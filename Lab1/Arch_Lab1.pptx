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5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5" r:id="rId30"/>
  </p:sldIdLst>
  <p:sldSz cx="12192000" cy="6858000"/>
  <p:notesSz cx="9144000" cy="6858000"/>
  <p:embeddedFontLs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Helvetica Neue" panose="020B0604020202020204" charset="0"/>
      <p:regular r:id="rId36"/>
      <p:bold r:id="rId37"/>
      <p:italic r:id="rId38"/>
      <p:boldItalic r:id="rId39"/>
    </p:embeddedFont>
    <p:embeddedFont>
      <p:font typeface="Questrial" panose="020B0604020202020204" charset="0"/>
      <p:regular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5754" autoAdjust="0"/>
  </p:normalViewPr>
  <p:slideViewPr>
    <p:cSldViewPr snapToGrid="0">
      <p:cViewPr varScale="1">
        <p:scale>
          <a:sx n="87" d="100"/>
          <a:sy n="87" d="100"/>
        </p:scale>
        <p:origin x="147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962399" cy="342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5180012" y="0"/>
            <a:ext cx="3962399" cy="342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512"/>
            <a:ext cx="3962399" cy="342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5180012" y="6513512"/>
            <a:ext cx="3962399" cy="342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:notes"/>
          <p:cNvSpPr txBox="1">
            <a:spLocks noGrp="1"/>
          </p:cNvSpPr>
          <p:nvPr>
            <p:ph type="sldNum" idx="12"/>
          </p:nvPr>
        </p:nvSpPr>
        <p:spPr>
          <a:xfrm>
            <a:off x="5180012" y="6513512"/>
            <a:ext cx="3962399" cy="342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fld id="{00000000-1234-1234-1234-123412341234}" type="slidenum">
              <a:rPr lang="en-US" sz="1800" b="0" i="1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sz="1800" b="0" i="1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" name="Google Shape;23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7" name="Google Shape;237;p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5" name="Google Shape;245;p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342900" marR="0" lvl="0" indent="-762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Synthesis:</a:t>
            </a:r>
            <a:endParaRPr/>
          </a:p>
          <a:p>
            <a:pPr marL="639762" marR="0" lvl="1" indent="-233362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Translating the HDL code into a circuit, which is then optimized</a:t>
            </a:r>
            <a:endParaRPr/>
          </a:p>
          <a:p>
            <a:pPr marL="342900" marR="0" lvl="0" indent="-762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Register Transfer Level (RTL):</a:t>
            </a:r>
            <a:endParaRPr/>
          </a:p>
          <a:p>
            <a:pPr marL="639762" marR="0" lvl="1" indent="-233362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Arial"/>
              <a:buChar char="•"/>
            </a:pPr>
            <a:r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 of behavioral model used for instance for synthesis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2:notes"/>
          <p:cNvSpPr txBox="1">
            <a:spLocks noGrp="1"/>
          </p:cNvSpPr>
          <p:nvPr>
            <p:ph type="sldNum" idx="12"/>
          </p:nvPr>
        </p:nvSpPr>
        <p:spPr>
          <a:xfrm>
            <a:off x="5180012" y="6513512"/>
            <a:ext cx="3962399" cy="342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7" name="Google Shape;30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15" name="Google Shape;31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23" name="Google Shape;32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1" name="Google Shape;33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9" name="Google Shape;33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47" name="Google Shape;347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0" name="Google Shape;37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79" name="Google Shape;37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0" name="Google Shape;400;p1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1:notes"/>
          <p:cNvSpPr txBox="1">
            <a:spLocks noGrp="1"/>
          </p:cNvSpPr>
          <p:nvPr>
            <p:ph type="sldNum" idx="12"/>
          </p:nvPr>
        </p:nvSpPr>
        <p:spPr>
          <a:xfrm>
            <a:off x="5180012" y="6513512"/>
            <a:ext cx="3962399" cy="342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0" name="Google Shape;41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9" name="Google Shape;419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8" name="Google Shape;428;p1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there is no clear distinction between behavioral model and Dataflow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check this link http://stackoverflow.com/questions/18682019/confusion-between-behavioural-and-dataflow-model-programs-in-vhdl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-- this part is for understanding how to think of the design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4:notes"/>
          <p:cNvSpPr txBox="1">
            <a:spLocks noGrp="1"/>
          </p:cNvSpPr>
          <p:nvPr>
            <p:ph type="sldNum" idx="12"/>
          </p:nvPr>
        </p:nvSpPr>
        <p:spPr>
          <a:xfrm>
            <a:off x="5180012" y="6513512"/>
            <a:ext cx="3962399" cy="342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37160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82880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20040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640080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7" name="Google Shape;43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46" name="Google Shape;446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1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54" name="Google Shape;454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62" name="Google Shape;46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19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77" name="Google Shape;477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2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93" name="Google Shape;49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21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13" name="Google Shape;51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22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22" name="Google Shape;522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23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0" name="Google Shape;530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24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38" name="Google Shape;538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25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46" name="Google Shape;546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26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54" name="Google Shape;55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27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2" name="Google Shape;56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p28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70" name="Google Shape;570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p30:notes"/>
          <p:cNvSpPr txBox="1">
            <a:spLocks noGrp="1"/>
          </p:cNvSpPr>
          <p:nvPr>
            <p:ph type="body" idx="1"/>
          </p:nvPr>
        </p:nvSpPr>
        <p:spPr>
          <a:xfrm>
            <a:off x="914400" y="3257550"/>
            <a:ext cx="7315200" cy="30860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87" name="Google Shape;58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514350"/>
            <a:ext cx="4572000" cy="25717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2" descr="\\DROBO-FS\QuickDrops\JB\PPTX NG\Droplets\LightingOverlay.png"/>
          <p:cNvPicPr preferRelativeResize="0"/>
          <p:nvPr/>
        </p:nvPicPr>
        <p:blipFill rotWithShape="1">
          <a:blip r:embed="rId2">
            <a:alphaModFix amt="30000"/>
          </a:blip>
          <a:srcRect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" name="Google Shape;58;p2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</p:grpSpPr>
        <p:sp>
          <p:nvSpPr>
            <p:cNvPr id="59" name="Google Shape;59;p2"/>
            <p:cNvSpPr/>
            <p:nvPr/>
          </p:nvSpPr>
          <p:spPr>
            <a:xfrm>
              <a:off x="1209675" y="4763"/>
              <a:ext cx="23813" cy="2181225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7000"/>
                    <a:pt x="33000" y="108000"/>
                    <a:pt x="60000" y="108000"/>
                  </a:cubicBezTo>
                  <a:cubicBezTo>
                    <a:pt x="84000" y="108000"/>
                    <a:pt x="108000" y="87000"/>
                    <a:pt x="108000" y="60000"/>
                  </a:cubicBezTo>
                  <a:cubicBezTo>
                    <a:pt x="108000" y="33000"/>
                    <a:pt x="84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7000"/>
                    <a:pt x="33000" y="108000"/>
                    <a:pt x="60000" y="108000"/>
                  </a:cubicBezTo>
                  <a:cubicBezTo>
                    <a:pt x="87000" y="108000"/>
                    <a:pt x="108000" y="87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414338" y="9525"/>
              <a:ext cx="28575" cy="4481513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7000"/>
                    <a:pt x="33000" y="108000"/>
                    <a:pt x="60000" y="108000"/>
                  </a:cubicBezTo>
                  <a:cubicBezTo>
                    <a:pt x="87000" y="108000"/>
                    <a:pt x="108000" y="87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8750" y="120000"/>
                  </a:moveTo>
                  <a:lnTo>
                    <a:pt x="0" y="118741"/>
                  </a:lnTo>
                  <a:lnTo>
                    <a:pt x="101250" y="79720"/>
                  </a:lnTo>
                  <a:lnTo>
                    <a:pt x="101250" y="0"/>
                  </a:lnTo>
                  <a:lnTo>
                    <a:pt x="120000" y="0"/>
                  </a:lnTo>
                  <a:lnTo>
                    <a:pt x="120000" y="80349"/>
                  </a:lnTo>
                  <a:lnTo>
                    <a:pt x="18750" y="12000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5" name="Google Shape;65;p2"/>
            <p:cNvSpPr/>
            <p:nvPr/>
          </p:nvSpPr>
          <p:spPr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12405" y="120000"/>
                  </a:moveTo>
                  <a:lnTo>
                    <a:pt x="0" y="65550"/>
                  </a:lnTo>
                  <a:lnTo>
                    <a:pt x="0" y="0"/>
                  </a:lnTo>
                  <a:lnTo>
                    <a:pt x="9113" y="0"/>
                  </a:lnTo>
                  <a:lnTo>
                    <a:pt x="9113" y="65233"/>
                  </a:lnTo>
                  <a:lnTo>
                    <a:pt x="120000" y="119365"/>
                  </a:lnTo>
                  <a:lnTo>
                    <a:pt x="112405" y="12000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6" name="Google Shape;66;p2"/>
            <p:cNvSpPr/>
            <p:nvPr/>
          </p:nvSpPr>
          <p:spPr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7000"/>
                    <a:pt x="33000" y="108000"/>
                    <a:pt x="60000" y="108000"/>
                  </a:cubicBezTo>
                  <a:cubicBezTo>
                    <a:pt x="84000" y="108000"/>
                    <a:pt x="108000" y="87000"/>
                    <a:pt x="108000" y="60000"/>
                  </a:cubicBezTo>
                  <a:cubicBezTo>
                    <a:pt x="108000" y="33000"/>
                    <a:pt x="84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12307" y="120000"/>
                  </a:moveTo>
                  <a:lnTo>
                    <a:pt x="0" y="51180"/>
                  </a:lnTo>
                  <a:lnTo>
                    <a:pt x="0" y="0"/>
                  </a:lnTo>
                  <a:lnTo>
                    <a:pt x="7692" y="0"/>
                  </a:lnTo>
                  <a:lnTo>
                    <a:pt x="7692" y="50779"/>
                  </a:lnTo>
                  <a:lnTo>
                    <a:pt x="120000" y="119198"/>
                  </a:lnTo>
                  <a:lnTo>
                    <a:pt x="112307" y="12000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8" name="Google Shape;68;p2"/>
            <p:cNvSpPr/>
            <p:nvPr/>
          </p:nvSpPr>
          <p:spPr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97500" y="120000"/>
                  </a:lnTo>
                  <a:lnTo>
                    <a:pt x="97500" y="40069"/>
                  </a:lnTo>
                  <a:lnTo>
                    <a:pt x="0" y="1252"/>
                  </a:lnTo>
                  <a:lnTo>
                    <a:pt x="18750" y="0"/>
                  </a:lnTo>
                  <a:lnTo>
                    <a:pt x="120000" y="39443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69" name="Google Shape;69;p2"/>
            <p:cNvSpPr/>
            <p:nvPr/>
          </p:nvSpPr>
          <p:spPr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7000"/>
                    <a:pt x="33000" y="108000"/>
                    <a:pt x="60000" y="108000"/>
                  </a:cubicBezTo>
                  <a:cubicBezTo>
                    <a:pt x="87000" y="108000"/>
                    <a:pt x="108000" y="87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7000"/>
                    <a:pt x="33000" y="108000"/>
                    <a:pt x="60000" y="108000"/>
                  </a:cubicBezTo>
                  <a:cubicBezTo>
                    <a:pt x="87000" y="108000"/>
                    <a:pt x="108000" y="87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14545" y="120000"/>
                  </a:moveTo>
                  <a:lnTo>
                    <a:pt x="20454" y="43768"/>
                  </a:lnTo>
                  <a:lnTo>
                    <a:pt x="0" y="2188"/>
                  </a:lnTo>
                  <a:lnTo>
                    <a:pt x="6818" y="0"/>
                  </a:lnTo>
                  <a:lnTo>
                    <a:pt x="27272" y="40486"/>
                  </a:lnTo>
                  <a:lnTo>
                    <a:pt x="120000" y="115623"/>
                  </a:lnTo>
                  <a:lnTo>
                    <a:pt x="114545" y="12000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2" name="Google Shape;72;p2"/>
            <p:cNvSpPr/>
            <p:nvPr/>
          </p:nvSpPr>
          <p:spPr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120000"/>
                  </a:moveTo>
                  <a:cubicBezTo>
                    <a:pt x="45882" y="120000"/>
                    <a:pt x="31764" y="116129"/>
                    <a:pt x="21176" y="104516"/>
                  </a:cubicBezTo>
                  <a:cubicBezTo>
                    <a:pt x="0" y="77419"/>
                    <a:pt x="0" y="38709"/>
                    <a:pt x="21176" y="15483"/>
                  </a:cubicBezTo>
                  <a:cubicBezTo>
                    <a:pt x="31764" y="3870"/>
                    <a:pt x="45882" y="0"/>
                    <a:pt x="60000" y="0"/>
                  </a:cubicBezTo>
                  <a:cubicBezTo>
                    <a:pt x="74117" y="0"/>
                    <a:pt x="88235" y="3870"/>
                    <a:pt x="98823" y="15483"/>
                  </a:cubicBezTo>
                  <a:cubicBezTo>
                    <a:pt x="120000" y="38709"/>
                    <a:pt x="120000" y="77419"/>
                    <a:pt x="98823" y="104516"/>
                  </a:cubicBezTo>
                  <a:cubicBezTo>
                    <a:pt x="88235" y="116129"/>
                    <a:pt x="74117" y="120000"/>
                    <a:pt x="60000" y="120000"/>
                  </a:cubicBezTo>
                  <a:close/>
                  <a:moveTo>
                    <a:pt x="60000" y="15483"/>
                  </a:moveTo>
                  <a:cubicBezTo>
                    <a:pt x="49411" y="15483"/>
                    <a:pt x="38823" y="19354"/>
                    <a:pt x="31764" y="27096"/>
                  </a:cubicBezTo>
                  <a:cubicBezTo>
                    <a:pt x="14117" y="46451"/>
                    <a:pt x="14117" y="73548"/>
                    <a:pt x="31764" y="92903"/>
                  </a:cubicBezTo>
                  <a:cubicBezTo>
                    <a:pt x="38823" y="100645"/>
                    <a:pt x="49411" y="104516"/>
                    <a:pt x="60000" y="104516"/>
                  </a:cubicBezTo>
                  <a:cubicBezTo>
                    <a:pt x="70588" y="104516"/>
                    <a:pt x="81176" y="100645"/>
                    <a:pt x="88235" y="92903"/>
                  </a:cubicBezTo>
                  <a:cubicBezTo>
                    <a:pt x="105882" y="73548"/>
                    <a:pt x="105882" y="46451"/>
                    <a:pt x="88235" y="27096"/>
                  </a:cubicBezTo>
                  <a:cubicBezTo>
                    <a:pt x="81176" y="19354"/>
                    <a:pt x="70588" y="15483"/>
                    <a:pt x="60000" y="1548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8750" y="120000"/>
                  </a:moveTo>
                  <a:lnTo>
                    <a:pt x="0" y="120000"/>
                  </a:lnTo>
                  <a:lnTo>
                    <a:pt x="0" y="39650"/>
                  </a:lnTo>
                  <a:lnTo>
                    <a:pt x="101250" y="0"/>
                  </a:lnTo>
                  <a:lnTo>
                    <a:pt x="120000" y="1258"/>
                  </a:lnTo>
                  <a:lnTo>
                    <a:pt x="18750" y="40279"/>
                  </a:lnTo>
                  <a:lnTo>
                    <a:pt x="18750" y="12000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4" name="Google Shape;74;p2"/>
            <p:cNvSpPr/>
            <p:nvPr/>
          </p:nvSpPr>
          <p:spPr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6000"/>
                    <a:pt x="12000" y="60000"/>
                  </a:cubicBezTo>
                  <a:cubicBezTo>
                    <a:pt x="12000" y="87000"/>
                    <a:pt x="33000" y="108000"/>
                    <a:pt x="60000" y="108000"/>
                  </a:cubicBezTo>
                  <a:cubicBezTo>
                    <a:pt x="87000" y="108000"/>
                    <a:pt x="108000" y="87000"/>
                    <a:pt x="108000" y="60000"/>
                  </a:cubicBezTo>
                  <a:cubicBezTo>
                    <a:pt x="108000" y="36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4000"/>
                    <a:pt x="33000" y="108000"/>
                    <a:pt x="60000" y="108000"/>
                  </a:cubicBezTo>
                  <a:cubicBezTo>
                    <a:pt x="87000" y="108000"/>
                    <a:pt x="108000" y="84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19999" y="120000"/>
                  </a:moveTo>
                  <a:lnTo>
                    <a:pt x="109859" y="120000"/>
                  </a:lnTo>
                  <a:lnTo>
                    <a:pt x="109859" y="72689"/>
                  </a:lnTo>
                  <a:lnTo>
                    <a:pt x="0" y="939"/>
                  </a:lnTo>
                  <a:lnTo>
                    <a:pt x="6760" y="0"/>
                  </a:lnTo>
                  <a:lnTo>
                    <a:pt x="119999" y="72219"/>
                  </a:lnTo>
                  <a:lnTo>
                    <a:pt x="119999" y="12000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77" name="Google Shape;77;p2"/>
            <p:cNvSpPr/>
            <p:nvPr/>
          </p:nvSpPr>
          <p:spPr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1818" y="120000"/>
                  </a:moveTo>
                  <a:cubicBezTo>
                    <a:pt x="29090" y="120000"/>
                    <a:pt x="0" y="94545"/>
                    <a:pt x="0" y="61818"/>
                  </a:cubicBezTo>
                  <a:cubicBezTo>
                    <a:pt x="0" y="29090"/>
                    <a:pt x="29090" y="0"/>
                    <a:pt x="61818" y="0"/>
                  </a:cubicBezTo>
                  <a:cubicBezTo>
                    <a:pt x="94545" y="0"/>
                    <a:pt x="120000" y="29090"/>
                    <a:pt x="120000" y="61818"/>
                  </a:cubicBezTo>
                  <a:cubicBezTo>
                    <a:pt x="120000" y="94545"/>
                    <a:pt x="94545" y="120000"/>
                    <a:pt x="61818" y="120000"/>
                  </a:cubicBezTo>
                  <a:close/>
                  <a:moveTo>
                    <a:pt x="61818" y="14545"/>
                  </a:moveTo>
                  <a:cubicBezTo>
                    <a:pt x="36363" y="14545"/>
                    <a:pt x="14545" y="36363"/>
                    <a:pt x="14545" y="61818"/>
                  </a:cubicBezTo>
                  <a:cubicBezTo>
                    <a:pt x="14545" y="87272"/>
                    <a:pt x="36363" y="105454"/>
                    <a:pt x="61818" y="105454"/>
                  </a:cubicBezTo>
                  <a:cubicBezTo>
                    <a:pt x="83636" y="105454"/>
                    <a:pt x="105454" y="87272"/>
                    <a:pt x="105454" y="61818"/>
                  </a:cubicBezTo>
                  <a:cubicBezTo>
                    <a:pt x="105454" y="36363"/>
                    <a:pt x="83636" y="14545"/>
                    <a:pt x="61818" y="14545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6000" y="0"/>
                    <a:pt x="120000" y="27000"/>
                    <a:pt x="120000" y="60000"/>
                  </a:cubicBezTo>
                  <a:cubicBezTo>
                    <a:pt x="120000" y="93000"/>
                    <a:pt x="96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6000" y="12000"/>
                    <a:pt x="12000" y="36000"/>
                    <a:pt x="12000" y="60000"/>
                  </a:cubicBezTo>
                  <a:cubicBezTo>
                    <a:pt x="12000" y="87000"/>
                    <a:pt x="36000" y="108000"/>
                    <a:pt x="60000" y="108000"/>
                  </a:cubicBezTo>
                  <a:cubicBezTo>
                    <a:pt x="87000" y="108000"/>
                    <a:pt x="108000" y="87000"/>
                    <a:pt x="108000" y="60000"/>
                  </a:cubicBezTo>
                  <a:cubicBezTo>
                    <a:pt x="108000" y="36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98571" y="120000"/>
                  </a:moveTo>
                  <a:lnTo>
                    <a:pt x="0" y="4285"/>
                  </a:lnTo>
                  <a:lnTo>
                    <a:pt x="17142" y="0"/>
                  </a:lnTo>
                  <a:lnTo>
                    <a:pt x="120000" y="115714"/>
                  </a:lnTo>
                  <a:lnTo>
                    <a:pt x="98571" y="12000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0" name="Google Shape;80;p2"/>
            <p:cNvSpPr/>
            <p:nvPr/>
          </p:nvSpPr>
          <p:spPr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4000"/>
                    <a:pt x="33000" y="108000"/>
                    <a:pt x="60000" y="108000"/>
                  </a:cubicBezTo>
                  <a:cubicBezTo>
                    <a:pt x="87000" y="108000"/>
                    <a:pt x="108000" y="84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7142" y="120000"/>
                  </a:moveTo>
                  <a:lnTo>
                    <a:pt x="0" y="115764"/>
                  </a:lnTo>
                  <a:lnTo>
                    <a:pt x="98571" y="0"/>
                  </a:lnTo>
                  <a:lnTo>
                    <a:pt x="120000" y="4235"/>
                  </a:lnTo>
                  <a:lnTo>
                    <a:pt x="17142" y="12000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2" name="Google Shape;82;p2"/>
            <p:cNvSpPr/>
            <p:nvPr/>
          </p:nvSpPr>
          <p:spPr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4000"/>
                    <a:pt x="33000" y="108000"/>
                    <a:pt x="60000" y="108000"/>
                  </a:cubicBezTo>
                  <a:cubicBezTo>
                    <a:pt x="87000" y="108000"/>
                    <a:pt x="108000" y="84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08923" y="120000"/>
                  </a:lnTo>
                  <a:lnTo>
                    <a:pt x="108923" y="98370"/>
                  </a:lnTo>
                  <a:lnTo>
                    <a:pt x="0" y="76863"/>
                  </a:lnTo>
                  <a:lnTo>
                    <a:pt x="0" y="0"/>
                  </a:lnTo>
                  <a:lnTo>
                    <a:pt x="11076" y="0"/>
                  </a:lnTo>
                  <a:lnTo>
                    <a:pt x="11076" y="76130"/>
                  </a:lnTo>
                  <a:lnTo>
                    <a:pt x="120000" y="97270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4" name="Google Shape;84;p2"/>
            <p:cNvSpPr/>
            <p:nvPr/>
          </p:nvSpPr>
          <p:spPr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6000" y="12000"/>
                    <a:pt x="12000" y="33000"/>
                    <a:pt x="12000" y="60000"/>
                  </a:cubicBezTo>
                  <a:cubicBezTo>
                    <a:pt x="12000" y="87000"/>
                    <a:pt x="36000" y="108000"/>
                    <a:pt x="60000" y="108000"/>
                  </a:cubicBezTo>
                  <a:cubicBezTo>
                    <a:pt x="87000" y="108000"/>
                    <a:pt x="108000" y="87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10625" y="120000"/>
                  </a:lnTo>
                  <a:lnTo>
                    <a:pt x="110625" y="38571"/>
                  </a:lnTo>
                  <a:lnTo>
                    <a:pt x="0" y="19607"/>
                  </a:lnTo>
                  <a:lnTo>
                    <a:pt x="0" y="0"/>
                  </a:lnTo>
                  <a:lnTo>
                    <a:pt x="9375" y="0"/>
                  </a:lnTo>
                  <a:lnTo>
                    <a:pt x="9375" y="18964"/>
                  </a:lnTo>
                  <a:lnTo>
                    <a:pt x="120000" y="37928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86" name="Google Shape;86;p2"/>
            <p:cNvSpPr/>
            <p:nvPr/>
          </p:nvSpPr>
          <p:spPr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6000" y="12000"/>
                    <a:pt x="12000" y="33000"/>
                    <a:pt x="12000" y="60000"/>
                  </a:cubicBezTo>
                  <a:cubicBezTo>
                    <a:pt x="12000" y="87000"/>
                    <a:pt x="36000" y="108000"/>
                    <a:pt x="60000" y="108000"/>
                  </a:cubicBezTo>
                  <a:cubicBezTo>
                    <a:pt x="87000" y="108000"/>
                    <a:pt x="108000" y="87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642938" y="6610350"/>
              <a:ext cx="23813" cy="242888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6000" y="0"/>
                    <a:pt x="120000" y="27000"/>
                    <a:pt x="120000" y="60000"/>
                  </a:cubicBezTo>
                  <a:cubicBezTo>
                    <a:pt x="120000" y="93000"/>
                    <a:pt x="96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6000" y="12000"/>
                    <a:pt x="12000" y="33000"/>
                    <a:pt x="12000" y="60000"/>
                  </a:cubicBezTo>
                  <a:cubicBezTo>
                    <a:pt x="12000" y="87000"/>
                    <a:pt x="36000" y="108000"/>
                    <a:pt x="60000" y="108000"/>
                  </a:cubicBezTo>
                  <a:cubicBezTo>
                    <a:pt x="87000" y="108000"/>
                    <a:pt x="108000" y="87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05000" y="120000"/>
                  </a:lnTo>
                  <a:lnTo>
                    <a:pt x="105000" y="47010"/>
                  </a:lnTo>
                  <a:lnTo>
                    <a:pt x="0" y="3711"/>
                  </a:lnTo>
                  <a:lnTo>
                    <a:pt x="12000" y="0"/>
                  </a:lnTo>
                  <a:lnTo>
                    <a:pt x="120000" y="44536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0" name="Google Shape;90;p2"/>
            <p:cNvSpPr/>
            <p:nvPr/>
          </p:nvSpPr>
          <p:spPr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0666" y="120000"/>
                  </a:moveTo>
                  <a:lnTo>
                    <a:pt x="0" y="120000"/>
                  </a:lnTo>
                  <a:lnTo>
                    <a:pt x="0" y="32268"/>
                  </a:lnTo>
                  <a:lnTo>
                    <a:pt x="112000" y="0"/>
                  </a:lnTo>
                  <a:lnTo>
                    <a:pt x="120000" y="2268"/>
                  </a:lnTo>
                  <a:lnTo>
                    <a:pt x="10666" y="33025"/>
                  </a:lnTo>
                  <a:lnTo>
                    <a:pt x="10666" y="12000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1" name="Google Shape;91;p2"/>
            <p:cNvSpPr/>
            <p:nvPr/>
          </p:nvSpPr>
          <p:spPr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1714" y="120000"/>
                  </a:moveTo>
                  <a:cubicBezTo>
                    <a:pt x="27428" y="120000"/>
                    <a:pt x="0" y="91764"/>
                    <a:pt x="0" y="60000"/>
                  </a:cubicBezTo>
                  <a:cubicBezTo>
                    <a:pt x="0" y="24705"/>
                    <a:pt x="27428" y="0"/>
                    <a:pt x="61714" y="0"/>
                  </a:cubicBezTo>
                  <a:cubicBezTo>
                    <a:pt x="92571" y="0"/>
                    <a:pt x="120000" y="24705"/>
                    <a:pt x="120000" y="60000"/>
                  </a:cubicBezTo>
                  <a:cubicBezTo>
                    <a:pt x="120000" y="91764"/>
                    <a:pt x="92571" y="120000"/>
                    <a:pt x="61714" y="120000"/>
                  </a:cubicBezTo>
                  <a:close/>
                  <a:moveTo>
                    <a:pt x="61714" y="14117"/>
                  </a:moveTo>
                  <a:cubicBezTo>
                    <a:pt x="34285" y="14117"/>
                    <a:pt x="13714" y="35294"/>
                    <a:pt x="13714" y="60000"/>
                  </a:cubicBezTo>
                  <a:cubicBezTo>
                    <a:pt x="13714" y="84705"/>
                    <a:pt x="34285" y="105882"/>
                    <a:pt x="61714" y="105882"/>
                  </a:cubicBezTo>
                  <a:cubicBezTo>
                    <a:pt x="85714" y="105882"/>
                    <a:pt x="106285" y="84705"/>
                    <a:pt x="106285" y="60000"/>
                  </a:cubicBezTo>
                  <a:cubicBezTo>
                    <a:pt x="106285" y="35294"/>
                    <a:pt x="85714" y="14117"/>
                    <a:pt x="61714" y="14117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15522" y="120000"/>
                  </a:lnTo>
                  <a:lnTo>
                    <a:pt x="115522" y="109353"/>
                  </a:lnTo>
                  <a:lnTo>
                    <a:pt x="0" y="91088"/>
                  </a:lnTo>
                  <a:lnTo>
                    <a:pt x="0" y="0"/>
                  </a:lnTo>
                  <a:lnTo>
                    <a:pt x="4477" y="0"/>
                  </a:lnTo>
                  <a:lnTo>
                    <a:pt x="4477" y="90662"/>
                  </a:lnTo>
                  <a:lnTo>
                    <a:pt x="120000" y="108927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3" name="Google Shape;93;p2"/>
            <p:cNvSpPr/>
            <p:nvPr/>
          </p:nvSpPr>
          <p:spPr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04000" y="120000"/>
                  </a:lnTo>
                  <a:lnTo>
                    <a:pt x="104000" y="33600"/>
                  </a:lnTo>
                  <a:lnTo>
                    <a:pt x="0" y="3600"/>
                  </a:lnTo>
                  <a:lnTo>
                    <a:pt x="12000" y="0"/>
                  </a:lnTo>
                  <a:lnTo>
                    <a:pt x="120000" y="32400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4" name="Google Shape;94;p2"/>
            <p:cNvSpPr/>
            <p:nvPr/>
          </p:nvSpPr>
          <p:spPr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2608" y="120000"/>
                  </a:moveTo>
                  <a:cubicBezTo>
                    <a:pt x="26086" y="120000"/>
                    <a:pt x="0" y="93913"/>
                    <a:pt x="0" y="62608"/>
                  </a:cubicBezTo>
                  <a:cubicBezTo>
                    <a:pt x="0" y="26086"/>
                    <a:pt x="26086" y="0"/>
                    <a:pt x="62608" y="0"/>
                  </a:cubicBezTo>
                  <a:cubicBezTo>
                    <a:pt x="93913" y="0"/>
                    <a:pt x="120000" y="26086"/>
                    <a:pt x="120000" y="62608"/>
                  </a:cubicBezTo>
                  <a:cubicBezTo>
                    <a:pt x="120000" y="93913"/>
                    <a:pt x="93913" y="120000"/>
                    <a:pt x="62608" y="120000"/>
                  </a:cubicBezTo>
                  <a:close/>
                  <a:moveTo>
                    <a:pt x="62608" y="20869"/>
                  </a:moveTo>
                  <a:cubicBezTo>
                    <a:pt x="41739" y="20869"/>
                    <a:pt x="20869" y="41739"/>
                    <a:pt x="20869" y="62608"/>
                  </a:cubicBezTo>
                  <a:cubicBezTo>
                    <a:pt x="20869" y="83478"/>
                    <a:pt x="41739" y="99130"/>
                    <a:pt x="62608" y="99130"/>
                  </a:cubicBezTo>
                  <a:cubicBezTo>
                    <a:pt x="83478" y="99130"/>
                    <a:pt x="99130" y="83478"/>
                    <a:pt x="99130" y="62608"/>
                  </a:cubicBezTo>
                  <a:cubicBezTo>
                    <a:pt x="99130" y="41739"/>
                    <a:pt x="83478" y="20869"/>
                    <a:pt x="62608" y="208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6000" y="120000"/>
                  </a:moveTo>
                  <a:lnTo>
                    <a:pt x="0" y="120000"/>
                  </a:lnTo>
                  <a:lnTo>
                    <a:pt x="0" y="32107"/>
                  </a:lnTo>
                  <a:lnTo>
                    <a:pt x="108000" y="0"/>
                  </a:lnTo>
                  <a:lnTo>
                    <a:pt x="120000" y="3210"/>
                  </a:lnTo>
                  <a:lnTo>
                    <a:pt x="16000" y="33311"/>
                  </a:lnTo>
                  <a:lnTo>
                    <a:pt x="16000" y="12000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6" name="Google Shape;96;p2"/>
            <p:cNvSpPr/>
            <p:nvPr/>
          </p:nvSpPr>
          <p:spPr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57391" y="120000"/>
                  </a:moveTo>
                  <a:cubicBezTo>
                    <a:pt x="26086" y="120000"/>
                    <a:pt x="0" y="93913"/>
                    <a:pt x="0" y="62608"/>
                  </a:cubicBezTo>
                  <a:cubicBezTo>
                    <a:pt x="0" y="26086"/>
                    <a:pt x="26086" y="0"/>
                    <a:pt x="57391" y="0"/>
                  </a:cubicBezTo>
                  <a:cubicBezTo>
                    <a:pt x="88695" y="0"/>
                    <a:pt x="120000" y="26086"/>
                    <a:pt x="120000" y="62608"/>
                  </a:cubicBezTo>
                  <a:cubicBezTo>
                    <a:pt x="120000" y="93913"/>
                    <a:pt x="88695" y="120000"/>
                    <a:pt x="57391" y="120000"/>
                  </a:cubicBezTo>
                  <a:close/>
                  <a:moveTo>
                    <a:pt x="57391" y="20869"/>
                  </a:moveTo>
                  <a:cubicBezTo>
                    <a:pt x="36521" y="20869"/>
                    <a:pt x="20869" y="41739"/>
                    <a:pt x="20869" y="62608"/>
                  </a:cubicBezTo>
                  <a:cubicBezTo>
                    <a:pt x="20869" y="83478"/>
                    <a:pt x="36521" y="99130"/>
                    <a:pt x="57391" y="99130"/>
                  </a:cubicBezTo>
                  <a:cubicBezTo>
                    <a:pt x="78260" y="99130"/>
                    <a:pt x="99130" y="83478"/>
                    <a:pt x="99130" y="62608"/>
                  </a:cubicBezTo>
                  <a:cubicBezTo>
                    <a:pt x="99130" y="41739"/>
                    <a:pt x="78260" y="20869"/>
                    <a:pt x="57391" y="208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0000" y="119999"/>
                  </a:moveTo>
                  <a:lnTo>
                    <a:pt x="0" y="116210"/>
                  </a:lnTo>
                  <a:lnTo>
                    <a:pt x="100000" y="90947"/>
                  </a:lnTo>
                  <a:lnTo>
                    <a:pt x="100000" y="0"/>
                  </a:lnTo>
                  <a:lnTo>
                    <a:pt x="120000" y="0"/>
                  </a:lnTo>
                  <a:lnTo>
                    <a:pt x="120000" y="93473"/>
                  </a:lnTo>
                  <a:lnTo>
                    <a:pt x="10000" y="11999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98" name="Google Shape;98;p2"/>
            <p:cNvSpPr/>
            <p:nvPr/>
          </p:nvSpPr>
          <p:spPr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2608" y="120000"/>
                  </a:moveTo>
                  <a:cubicBezTo>
                    <a:pt x="26086" y="120000"/>
                    <a:pt x="0" y="93913"/>
                    <a:pt x="0" y="62608"/>
                  </a:cubicBezTo>
                  <a:cubicBezTo>
                    <a:pt x="0" y="26086"/>
                    <a:pt x="26086" y="0"/>
                    <a:pt x="62608" y="0"/>
                  </a:cubicBezTo>
                  <a:cubicBezTo>
                    <a:pt x="93913" y="0"/>
                    <a:pt x="120000" y="26086"/>
                    <a:pt x="120000" y="62608"/>
                  </a:cubicBezTo>
                  <a:cubicBezTo>
                    <a:pt x="120000" y="93913"/>
                    <a:pt x="93913" y="120000"/>
                    <a:pt x="62608" y="120000"/>
                  </a:cubicBezTo>
                  <a:close/>
                  <a:moveTo>
                    <a:pt x="62608" y="20869"/>
                  </a:moveTo>
                  <a:cubicBezTo>
                    <a:pt x="41739" y="20869"/>
                    <a:pt x="20869" y="41739"/>
                    <a:pt x="20869" y="62608"/>
                  </a:cubicBezTo>
                  <a:cubicBezTo>
                    <a:pt x="20869" y="83478"/>
                    <a:pt x="41739" y="99130"/>
                    <a:pt x="62608" y="99130"/>
                  </a:cubicBezTo>
                  <a:cubicBezTo>
                    <a:pt x="83478" y="99130"/>
                    <a:pt x="99130" y="83478"/>
                    <a:pt x="99130" y="62608"/>
                  </a:cubicBezTo>
                  <a:cubicBezTo>
                    <a:pt x="99130" y="41739"/>
                    <a:pt x="83478" y="20869"/>
                    <a:pt x="62608" y="20869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1228725" y="4662488"/>
              <a:ext cx="23813" cy="2181225"/>
            </a:xfrm>
            <a:prstGeom prst="rect">
              <a:avLst/>
            </a:pr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7692" y="120000"/>
                  </a:moveTo>
                  <a:lnTo>
                    <a:pt x="0" y="120000"/>
                  </a:lnTo>
                  <a:lnTo>
                    <a:pt x="0" y="54449"/>
                  </a:lnTo>
                  <a:lnTo>
                    <a:pt x="0" y="54132"/>
                  </a:lnTo>
                  <a:lnTo>
                    <a:pt x="112307" y="0"/>
                  </a:lnTo>
                  <a:lnTo>
                    <a:pt x="120000" y="634"/>
                  </a:lnTo>
                  <a:lnTo>
                    <a:pt x="7692" y="54766"/>
                  </a:lnTo>
                  <a:lnTo>
                    <a:pt x="7692" y="12000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1" name="Google Shape;101;p2"/>
            <p:cNvSpPr/>
            <p:nvPr/>
          </p:nvSpPr>
          <p:spPr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7000"/>
                    <a:pt x="33000" y="108000"/>
                    <a:pt x="60000" y="108000"/>
                  </a:cubicBezTo>
                  <a:cubicBezTo>
                    <a:pt x="84000" y="108000"/>
                    <a:pt x="108000" y="87000"/>
                    <a:pt x="108000" y="60000"/>
                  </a:cubicBezTo>
                  <a:cubicBezTo>
                    <a:pt x="108000" y="33000"/>
                    <a:pt x="84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2"/>
            <p:cNvSpPr/>
            <p:nvPr/>
          </p:nvSpPr>
          <p:spPr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20000" y="120000"/>
                  </a:moveTo>
                  <a:lnTo>
                    <a:pt x="110136" y="120000"/>
                  </a:lnTo>
                  <a:lnTo>
                    <a:pt x="110136" y="78912"/>
                  </a:lnTo>
                  <a:lnTo>
                    <a:pt x="0" y="199"/>
                  </a:lnTo>
                  <a:lnTo>
                    <a:pt x="8219" y="0"/>
                  </a:lnTo>
                  <a:lnTo>
                    <a:pt x="120000" y="78912"/>
                  </a:lnTo>
                  <a:lnTo>
                    <a:pt x="120000" y="12000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3" name="Google Shape;103;p2"/>
            <p:cNvSpPr/>
            <p:nvPr/>
          </p:nvSpPr>
          <p:spPr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4000"/>
                    <a:pt x="33000" y="108000"/>
                    <a:pt x="60000" y="108000"/>
                  </a:cubicBezTo>
                  <a:cubicBezTo>
                    <a:pt x="87000" y="108000"/>
                    <a:pt x="108000" y="84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7000"/>
                    <a:pt x="33000" y="108000"/>
                    <a:pt x="60000" y="108000"/>
                  </a:cubicBezTo>
                  <a:cubicBezTo>
                    <a:pt x="84000" y="108000"/>
                    <a:pt x="108000" y="87000"/>
                    <a:pt x="108000" y="60000"/>
                  </a:cubicBezTo>
                  <a:cubicBezTo>
                    <a:pt x="108000" y="33000"/>
                    <a:pt x="84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9230" y="120000"/>
                  </a:moveTo>
                  <a:lnTo>
                    <a:pt x="0" y="120000"/>
                  </a:lnTo>
                  <a:lnTo>
                    <a:pt x="0" y="68819"/>
                  </a:lnTo>
                  <a:lnTo>
                    <a:pt x="0" y="68418"/>
                  </a:lnTo>
                  <a:lnTo>
                    <a:pt x="113846" y="0"/>
                  </a:lnTo>
                  <a:lnTo>
                    <a:pt x="120000" y="801"/>
                  </a:lnTo>
                  <a:lnTo>
                    <a:pt x="9230" y="69220"/>
                  </a:lnTo>
                  <a:lnTo>
                    <a:pt x="9230" y="12000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6" name="Google Shape;106;p2"/>
            <p:cNvSpPr/>
            <p:nvPr/>
          </p:nvSpPr>
          <p:spPr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8750" y="120000"/>
                  </a:moveTo>
                  <a:lnTo>
                    <a:pt x="0" y="118747"/>
                  </a:lnTo>
                  <a:lnTo>
                    <a:pt x="101250" y="79930"/>
                  </a:lnTo>
                  <a:lnTo>
                    <a:pt x="101250" y="0"/>
                  </a:lnTo>
                  <a:lnTo>
                    <a:pt x="120000" y="0"/>
                  </a:lnTo>
                  <a:lnTo>
                    <a:pt x="120000" y="80556"/>
                  </a:lnTo>
                  <a:lnTo>
                    <a:pt x="18750" y="12000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7" name="Google Shape;107;p2"/>
            <p:cNvSpPr/>
            <p:nvPr/>
          </p:nvSpPr>
          <p:spPr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7000"/>
                    <a:pt x="33000" y="108000"/>
                    <a:pt x="60000" y="108000"/>
                  </a:cubicBezTo>
                  <a:cubicBezTo>
                    <a:pt x="87000" y="108000"/>
                    <a:pt x="108000" y="87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0000" y="120000"/>
                  </a:moveTo>
                  <a:cubicBezTo>
                    <a:pt x="27000" y="120000"/>
                    <a:pt x="0" y="93000"/>
                    <a:pt x="0" y="60000"/>
                  </a:cubicBezTo>
                  <a:cubicBezTo>
                    <a:pt x="0" y="27000"/>
                    <a:pt x="27000" y="0"/>
                    <a:pt x="60000" y="0"/>
                  </a:cubicBezTo>
                  <a:cubicBezTo>
                    <a:pt x="93000" y="0"/>
                    <a:pt x="120000" y="27000"/>
                    <a:pt x="120000" y="60000"/>
                  </a:cubicBezTo>
                  <a:cubicBezTo>
                    <a:pt x="120000" y="93000"/>
                    <a:pt x="93000" y="120000"/>
                    <a:pt x="60000" y="120000"/>
                  </a:cubicBezTo>
                  <a:close/>
                  <a:moveTo>
                    <a:pt x="60000" y="12000"/>
                  </a:moveTo>
                  <a:cubicBezTo>
                    <a:pt x="33000" y="12000"/>
                    <a:pt x="12000" y="33000"/>
                    <a:pt x="12000" y="60000"/>
                  </a:cubicBezTo>
                  <a:cubicBezTo>
                    <a:pt x="12000" y="87000"/>
                    <a:pt x="33000" y="108000"/>
                    <a:pt x="60000" y="108000"/>
                  </a:cubicBezTo>
                  <a:cubicBezTo>
                    <a:pt x="87000" y="108000"/>
                    <a:pt x="108000" y="87000"/>
                    <a:pt x="108000" y="60000"/>
                  </a:cubicBezTo>
                  <a:cubicBezTo>
                    <a:pt x="108000" y="33000"/>
                    <a:pt x="87000" y="12000"/>
                    <a:pt x="60000" y="12000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5454" y="119999"/>
                  </a:moveTo>
                  <a:lnTo>
                    <a:pt x="0" y="117831"/>
                  </a:lnTo>
                  <a:lnTo>
                    <a:pt x="20454" y="74457"/>
                  </a:lnTo>
                  <a:lnTo>
                    <a:pt x="115909" y="0"/>
                  </a:lnTo>
                  <a:lnTo>
                    <a:pt x="120000" y="4337"/>
                  </a:lnTo>
                  <a:lnTo>
                    <a:pt x="27272" y="77710"/>
                  </a:lnTo>
                  <a:lnTo>
                    <a:pt x="5454" y="119999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10" name="Google Shape;110;p2"/>
            <p:cNvSpPr/>
            <p:nvPr/>
          </p:nvSpPr>
          <p:spPr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58181" y="120000"/>
                  </a:moveTo>
                  <a:cubicBezTo>
                    <a:pt x="43636" y="120000"/>
                    <a:pt x="29090" y="112258"/>
                    <a:pt x="18181" y="100645"/>
                  </a:cubicBezTo>
                  <a:cubicBezTo>
                    <a:pt x="7272" y="92903"/>
                    <a:pt x="0" y="77419"/>
                    <a:pt x="0" y="58064"/>
                  </a:cubicBezTo>
                  <a:cubicBezTo>
                    <a:pt x="0" y="42580"/>
                    <a:pt x="7272" y="27096"/>
                    <a:pt x="18181" y="15483"/>
                  </a:cubicBezTo>
                  <a:cubicBezTo>
                    <a:pt x="29090" y="3870"/>
                    <a:pt x="43636" y="0"/>
                    <a:pt x="58181" y="0"/>
                  </a:cubicBezTo>
                  <a:cubicBezTo>
                    <a:pt x="72727" y="0"/>
                    <a:pt x="87272" y="3870"/>
                    <a:pt x="98181" y="15483"/>
                  </a:cubicBezTo>
                  <a:cubicBezTo>
                    <a:pt x="120000" y="38709"/>
                    <a:pt x="120000" y="77419"/>
                    <a:pt x="98181" y="100645"/>
                  </a:cubicBezTo>
                  <a:cubicBezTo>
                    <a:pt x="87272" y="112258"/>
                    <a:pt x="72727" y="120000"/>
                    <a:pt x="58181" y="120000"/>
                  </a:cubicBezTo>
                  <a:close/>
                  <a:moveTo>
                    <a:pt x="58181" y="15483"/>
                  </a:moveTo>
                  <a:cubicBezTo>
                    <a:pt x="47272" y="15483"/>
                    <a:pt x="36363" y="19354"/>
                    <a:pt x="29090" y="27096"/>
                  </a:cubicBezTo>
                  <a:cubicBezTo>
                    <a:pt x="21818" y="34838"/>
                    <a:pt x="14545" y="46451"/>
                    <a:pt x="14545" y="58064"/>
                  </a:cubicBezTo>
                  <a:cubicBezTo>
                    <a:pt x="14545" y="73548"/>
                    <a:pt x="21818" y="81290"/>
                    <a:pt x="29090" y="92903"/>
                  </a:cubicBezTo>
                  <a:cubicBezTo>
                    <a:pt x="36363" y="100645"/>
                    <a:pt x="47272" y="104516"/>
                    <a:pt x="58181" y="104516"/>
                  </a:cubicBezTo>
                  <a:cubicBezTo>
                    <a:pt x="69090" y="104516"/>
                    <a:pt x="80000" y="100645"/>
                    <a:pt x="87272" y="92903"/>
                  </a:cubicBezTo>
                  <a:cubicBezTo>
                    <a:pt x="105454" y="73548"/>
                    <a:pt x="105454" y="46451"/>
                    <a:pt x="87272" y="27096"/>
                  </a:cubicBezTo>
                  <a:cubicBezTo>
                    <a:pt x="80000" y="19354"/>
                    <a:pt x="69090" y="15483"/>
                    <a:pt x="58181" y="15483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07755" y="120000"/>
                  </a:moveTo>
                  <a:lnTo>
                    <a:pt x="105306" y="102793"/>
                  </a:lnTo>
                  <a:lnTo>
                    <a:pt x="0" y="70954"/>
                  </a:lnTo>
                  <a:lnTo>
                    <a:pt x="0" y="0"/>
                  </a:lnTo>
                  <a:lnTo>
                    <a:pt x="12244" y="0"/>
                  </a:lnTo>
                  <a:lnTo>
                    <a:pt x="12244" y="70842"/>
                  </a:lnTo>
                  <a:lnTo>
                    <a:pt x="117551" y="102793"/>
                  </a:lnTo>
                  <a:lnTo>
                    <a:pt x="120000" y="120000"/>
                  </a:lnTo>
                  <a:lnTo>
                    <a:pt x="107755" y="120000"/>
                  </a:ln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12" name="Google Shape;112;p2"/>
            <p:cNvSpPr/>
            <p:nvPr/>
          </p:nvSpPr>
          <p:spPr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61538" y="120000"/>
                  </a:moveTo>
                  <a:cubicBezTo>
                    <a:pt x="27692" y="120000"/>
                    <a:pt x="0" y="92307"/>
                    <a:pt x="0" y="58461"/>
                  </a:cubicBezTo>
                  <a:cubicBezTo>
                    <a:pt x="0" y="27692"/>
                    <a:pt x="27692" y="0"/>
                    <a:pt x="61538" y="0"/>
                  </a:cubicBezTo>
                  <a:cubicBezTo>
                    <a:pt x="92307" y="0"/>
                    <a:pt x="120000" y="27692"/>
                    <a:pt x="120000" y="58461"/>
                  </a:cubicBezTo>
                  <a:cubicBezTo>
                    <a:pt x="120000" y="92307"/>
                    <a:pt x="92307" y="120000"/>
                    <a:pt x="61538" y="120000"/>
                  </a:cubicBezTo>
                  <a:close/>
                  <a:moveTo>
                    <a:pt x="61538" y="12307"/>
                  </a:moveTo>
                  <a:cubicBezTo>
                    <a:pt x="33846" y="12307"/>
                    <a:pt x="12307" y="33846"/>
                    <a:pt x="12307" y="58461"/>
                  </a:cubicBezTo>
                  <a:cubicBezTo>
                    <a:pt x="12307" y="86153"/>
                    <a:pt x="33846" y="107692"/>
                    <a:pt x="61538" y="107692"/>
                  </a:cubicBezTo>
                  <a:cubicBezTo>
                    <a:pt x="86153" y="107692"/>
                    <a:pt x="107692" y="86153"/>
                    <a:pt x="107692" y="58461"/>
                  </a:cubicBezTo>
                  <a:cubicBezTo>
                    <a:pt x="107692" y="33846"/>
                    <a:pt x="86153" y="12307"/>
                    <a:pt x="61538" y="12307"/>
                  </a:cubicBezTo>
                  <a:close/>
                </a:path>
              </a:pathLst>
            </a:custGeom>
            <a:gradFill>
              <a:gsLst>
                <a:gs pos="0">
                  <a:schemeClr val="dk2"/>
                </a:gs>
                <a:gs pos="100000">
                  <a:srgbClr val="12161A"/>
                </a:gs>
              </a:gsLst>
              <a:lin ang="54000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3" name="Google Shape;113;p2"/>
          <p:cNvSpPr txBox="1"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sz="4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4" name="Google Shape;114;p2"/>
          <p:cNvSpPr txBox="1"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Arial"/>
              <a:buNone/>
              <a:defRPr sz="2000" b="0" i="0" u="none" strike="noStrike" cap="none">
                <a:solidFill>
                  <a:schemeClr val="dk2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15" name="Google Shape;115;p2"/>
          <p:cNvSpPr txBox="1">
            <a:spLocks noGrp="1"/>
          </p:cNvSpPr>
          <p:nvPr>
            <p:ph type="dt" idx="10"/>
          </p:nvPr>
        </p:nvSpPr>
        <p:spPr>
          <a:xfrm>
            <a:off x="7077511" y="5410201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6" name="Google Shape;116;p2"/>
          <p:cNvSpPr txBox="1">
            <a:spLocks noGrp="1"/>
          </p:cNvSpPr>
          <p:nvPr>
            <p:ph type="ftr" idx="11"/>
          </p:nvPr>
        </p:nvSpPr>
        <p:spPr>
          <a:xfrm>
            <a:off x="1876424" y="5410201"/>
            <a:ext cx="512488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7" name="Google Shape;117;p2"/>
          <p:cNvSpPr txBox="1">
            <a:spLocks noGrp="1"/>
          </p:cNvSpPr>
          <p:nvPr>
            <p:ph type="sldNum" idx="12"/>
          </p:nvPr>
        </p:nvSpPr>
        <p:spPr>
          <a:xfrm>
            <a:off x="9896911" y="5410199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sz="3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0" name="Google Shape;120;p3"/>
          <p:cNvSpPr txBox="1"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191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873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21" name="Google Shape;121;p3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2" name="Google Shape;122;p3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3" name="Google Shape;123;p3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 txBox="1"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sz="3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26" name="Google Shape;126;p4"/>
          <p:cNvSpPr txBox="1"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30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5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25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75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75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75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75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27" name="Google Shape;127;p4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8" name="Google Shape;128;p4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9" name="Google Shape;129;p4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sz="3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2" name="Google Shape;132;p5"/>
          <p:cNvSpPr txBox="1">
            <a:spLocks noGrp="1"/>
          </p:cNvSpPr>
          <p:nvPr>
            <p:ph type="body" idx="1"/>
          </p:nvPr>
        </p:nvSpPr>
        <p:spPr>
          <a:xfrm>
            <a:off x="1141410" y="2249486"/>
            <a:ext cx="4878389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191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873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33" name="Google Shape;133;p5"/>
          <p:cNvSpPr txBox="1">
            <a:spLocks noGrp="1"/>
          </p:cNvSpPr>
          <p:nvPr>
            <p:ph type="body" idx="2"/>
          </p:nvPr>
        </p:nvSpPr>
        <p:spPr>
          <a:xfrm>
            <a:off x="6172200" y="2249486"/>
            <a:ext cx="4875211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191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873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34" name="Google Shape;134;p5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5" name="Google Shape;135;p5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6" name="Google Shape;136;p5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"/>
          <p:cNvSpPr txBox="1"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sz="3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9" name="Google Shape;139;p6"/>
          <p:cNvSpPr txBox="1"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40" name="Google Shape;140;p6"/>
          <p:cNvSpPr txBox="1">
            <a:spLocks noGrp="1"/>
          </p:cNvSpPr>
          <p:nvPr>
            <p:ph type="body" idx="2"/>
          </p:nvPr>
        </p:nvSpPr>
        <p:spPr>
          <a:xfrm>
            <a:off x="1141410" y="3073397"/>
            <a:ext cx="4878391" cy="2717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191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873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41" name="Google Shape;141;p6"/>
          <p:cNvSpPr txBox="1">
            <a:spLocks noGrp="1"/>
          </p:cNvSpPr>
          <p:nvPr>
            <p:ph type="body" idx="3"/>
          </p:nvPr>
        </p:nvSpPr>
        <p:spPr>
          <a:xfrm>
            <a:off x="6400808" y="2249485"/>
            <a:ext cx="4646602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42" name="Google Shape;142;p6"/>
          <p:cNvSpPr txBox="1">
            <a:spLocks noGrp="1"/>
          </p:cNvSpPr>
          <p:nvPr>
            <p:ph type="body" idx="4"/>
          </p:nvPr>
        </p:nvSpPr>
        <p:spPr>
          <a:xfrm>
            <a:off x="6172200" y="3073397"/>
            <a:ext cx="4875210" cy="2717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191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873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43" name="Google Shape;143;p6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4" name="Google Shape;144;p6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5" name="Google Shape;145;p6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sz="3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8" name="Google Shape;148;p7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9" name="Google Shape;149;p7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0" name="Google Shape;150;p7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3" name="Google Shape;153;p8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4" name="Google Shape;154;p8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9"/>
          <p:cNvSpPr txBox="1"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sz="3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57" name="Google Shape;157;p9"/>
          <p:cNvSpPr txBox="1">
            <a:spLocks noGrp="1"/>
          </p:cNvSpPr>
          <p:nvPr>
            <p:ph type="body" idx="1"/>
          </p:nvPr>
        </p:nvSpPr>
        <p:spPr>
          <a:xfrm>
            <a:off x="5156200" y="592666"/>
            <a:ext cx="5891209" cy="5198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4191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873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58" name="Google Shape;158;p9"/>
          <p:cNvSpPr txBox="1">
            <a:spLocks noGrp="1"/>
          </p:cNvSpPr>
          <p:nvPr>
            <p:ph type="body" idx="2"/>
          </p:nvPr>
        </p:nvSpPr>
        <p:spPr>
          <a:xfrm>
            <a:off x="1146705" y="2249486"/>
            <a:ext cx="3856037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59" name="Google Shape;159;p9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0" name="Google Shape;160;p9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1" name="Google Shape;161;p9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 txBox="1"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sz="3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4" name="Google Shape;164;p10"/>
          <p:cNvSpPr>
            <a:spLocks noGrp="1"/>
          </p:cNvSpPr>
          <p:nvPr>
            <p:ph type="pic" idx="2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 cmpd="sng">
            <a:solidFill>
              <a:srgbClr val="697C98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65" name="Google Shape;165;p10"/>
          <p:cNvSpPr txBox="1">
            <a:spLocks noGrp="1"/>
          </p:cNvSpPr>
          <p:nvPr>
            <p:ph type="body" idx="1"/>
          </p:nvPr>
        </p:nvSpPr>
        <p:spPr>
          <a:xfrm>
            <a:off x="1141410" y="2249486"/>
            <a:ext cx="5934511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66" name="Google Shape;166;p10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7" name="Google Shape;167;p10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8" name="Google Shape;168;p10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1"/>
          <p:cNvSpPr txBox="1"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sz="3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1" name="Google Shape;171;p11"/>
          <p:cNvSpPr>
            <a:spLocks noGrp="1"/>
          </p:cNvSpPr>
          <p:nvPr>
            <p:ph type="pic" idx="2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noFill/>
          <a:ln w="19050" cap="sq" cmpd="sng">
            <a:solidFill>
              <a:srgbClr val="697C98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72" name="Google Shape;172;p11"/>
          <p:cNvSpPr txBox="1">
            <a:spLocks noGrp="1"/>
          </p:cNvSpPr>
          <p:nvPr>
            <p:ph type="body" idx="1"/>
          </p:nvPr>
        </p:nvSpPr>
        <p:spPr>
          <a:xfrm>
            <a:off x="1141364" y="5124020"/>
            <a:ext cx="9910859" cy="682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73" name="Google Shape;173;p11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4" name="Google Shape;174;p11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75" name="Google Shape;175;p11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  <a:p>
            <a:pPr marL="32004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  <a:p>
            <a:pPr marL="45720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  <a:p>
            <a:pPr marL="64008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2"/>
          <p:cNvSpPr txBox="1"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sz="3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78" name="Google Shape;178;p12"/>
          <p:cNvSpPr txBox="1">
            <a:spLocks noGrp="1"/>
          </p:cNvSpPr>
          <p:nvPr>
            <p:ph type="body" idx="1"/>
          </p:nvPr>
        </p:nvSpPr>
        <p:spPr>
          <a:xfrm>
            <a:off x="1141410" y="4419599"/>
            <a:ext cx="9904459" cy="137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79" name="Google Shape;179;p12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0" name="Google Shape;180;p12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1" name="Google Shape;181;p12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  <a:p>
            <a:pPr marL="32004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  <a:p>
            <a:pPr marL="45720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  <a:p>
            <a:pPr marL="64008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3"/>
          <p:cNvSpPr txBox="1"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sz="3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4" name="Google Shape;184;p13"/>
          <p:cNvSpPr txBox="1">
            <a:spLocks noGrp="1"/>
          </p:cNvSpPr>
          <p:nvPr>
            <p:ph type="body" idx="1"/>
          </p:nvPr>
        </p:nvSpPr>
        <p:spPr>
          <a:xfrm>
            <a:off x="1720644" y="3365557"/>
            <a:ext cx="8752299" cy="548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85" name="Google Shape;185;p13"/>
          <p:cNvSpPr txBox="1">
            <a:spLocks noGrp="1"/>
          </p:cNvSpPr>
          <p:nvPr>
            <p:ph type="body" idx="2"/>
          </p:nvPr>
        </p:nvSpPr>
        <p:spPr>
          <a:xfrm>
            <a:off x="1141411" y="4309919"/>
            <a:ext cx="9906002" cy="148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86" name="Google Shape;186;p13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8" name="Google Shape;188;p13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  <a:p>
            <a:pPr marL="32004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  <a:p>
            <a:pPr marL="45720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  <a:p>
            <a:pPr marL="64008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</p:txBody>
      </p:sp>
      <p:sp>
        <p:nvSpPr>
          <p:cNvPr id="189" name="Google Shape;189;p13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Questria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“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13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Questrial"/>
              <a:buNone/>
            </a:pPr>
            <a:r>
              <a:rPr lang="en-US" sz="8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”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4"/>
          <p:cNvSpPr txBox="1"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sz="3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3" name="Google Shape;193;p14"/>
          <p:cNvSpPr txBox="1">
            <a:spLocks noGrp="1"/>
          </p:cNvSpPr>
          <p:nvPr>
            <p:ph type="body" idx="1"/>
          </p:nvPr>
        </p:nvSpPr>
        <p:spPr>
          <a:xfrm>
            <a:off x="1141364" y="4657655"/>
            <a:ext cx="9904505" cy="1140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194" name="Google Shape;194;p14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5" name="Google Shape;195;p14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6" name="Google Shape;196;p14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  <a:p>
            <a:pPr marL="32004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  <a:p>
            <a:pPr marL="45720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  <a:p>
            <a:pPr marL="64008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"/>
          <p:cNvSpPr txBox="1"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sz="3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99" name="Google Shape;199;p15"/>
          <p:cNvSpPr txBox="1"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00" name="Google Shape;200;p15"/>
          <p:cNvSpPr txBox="1">
            <a:spLocks noGrp="1"/>
          </p:cNvSpPr>
          <p:nvPr>
            <p:ph type="body" idx="2"/>
          </p:nvPr>
        </p:nvSpPr>
        <p:spPr>
          <a:xfrm>
            <a:off x="1127918" y="3360263"/>
            <a:ext cx="3208735" cy="24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01" name="Google Shape;201;p15"/>
          <p:cNvSpPr txBox="1">
            <a:spLocks noGrp="1"/>
          </p:cNvSpPr>
          <p:nvPr>
            <p:ph type="body" idx="3"/>
          </p:nvPr>
        </p:nvSpPr>
        <p:spPr>
          <a:xfrm>
            <a:off x="4514766" y="2677635"/>
            <a:ext cx="318438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02" name="Google Shape;202;p15"/>
          <p:cNvSpPr txBox="1">
            <a:spLocks noGrp="1"/>
          </p:cNvSpPr>
          <p:nvPr>
            <p:ph type="body" idx="4"/>
          </p:nvPr>
        </p:nvSpPr>
        <p:spPr>
          <a:xfrm>
            <a:off x="4504213" y="3363435"/>
            <a:ext cx="3195830" cy="24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03" name="Google Shape;203;p15"/>
          <p:cNvSpPr txBox="1">
            <a:spLocks noGrp="1"/>
          </p:cNvSpPr>
          <p:nvPr>
            <p:ph type="body" idx="5"/>
          </p:nvPr>
        </p:nvSpPr>
        <p:spPr>
          <a:xfrm>
            <a:off x="7852442" y="2674463"/>
            <a:ext cx="3194968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04" name="Google Shape;204;p15"/>
          <p:cNvSpPr txBox="1">
            <a:spLocks noGrp="1"/>
          </p:cNvSpPr>
          <p:nvPr>
            <p:ph type="body" idx="6"/>
          </p:nvPr>
        </p:nvSpPr>
        <p:spPr>
          <a:xfrm>
            <a:off x="7852442" y="3360263"/>
            <a:ext cx="3194968" cy="243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05" name="Google Shape;205;p15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6" name="Google Shape;206;p15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7" name="Google Shape;207;p15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  <a:p>
            <a:pPr marL="32004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  <a:p>
            <a:pPr marL="45720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  <a:p>
            <a:pPr marL="64008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icture Column">
  <p:cSld name="3 Picture Column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6"/>
          <p:cNvSpPr txBox="1"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sz="3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10" name="Google Shape;210;p16"/>
          <p:cNvSpPr txBox="1"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11" name="Google Shape;211;p16"/>
          <p:cNvSpPr>
            <a:spLocks noGrp="1"/>
          </p:cNvSpPr>
          <p:nvPr>
            <p:ph type="pic" idx="2"/>
          </p:nvPr>
        </p:nvSpPr>
        <p:spPr>
          <a:xfrm>
            <a:off x="1141413" y="2666998"/>
            <a:ext cx="3195240" cy="1524000"/>
          </a:xfrm>
          <a:prstGeom prst="round2DiagRect">
            <a:avLst>
              <a:gd name="adj1" fmla="val 16667"/>
              <a:gd name="adj2" fmla="val 0"/>
            </a:avLst>
          </a:prstGeom>
          <a:noFill/>
          <a:ln w="19050" cap="sq" cmpd="sng">
            <a:solidFill>
              <a:srgbClr val="697C98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12" name="Google Shape;212;p16"/>
          <p:cNvSpPr txBox="1">
            <a:spLocks noGrp="1"/>
          </p:cNvSpPr>
          <p:nvPr>
            <p:ph type="body" idx="3"/>
          </p:nvPr>
        </p:nvSpPr>
        <p:spPr>
          <a:xfrm>
            <a:off x="1141413" y="4980858"/>
            <a:ext cx="3195240" cy="8178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13" name="Google Shape;213;p16"/>
          <p:cNvSpPr txBox="1">
            <a:spLocks noGrp="1"/>
          </p:cNvSpPr>
          <p:nvPr>
            <p:ph type="body" idx="4"/>
          </p:nvPr>
        </p:nvSpPr>
        <p:spPr>
          <a:xfrm>
            <a:off x="4489053" y="4404596"/>
            <a:ext cx="3200400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14" name="Google Shape;214;p16"/>
          <p:cNvSpPr>
            <a:spLocks noGrp="1"/>
          </p:cNvSpPr>
          <p:nvPr>
            <p:ph type="pic" idx="5"/>
          </p:nvPr>
        </p:nvSpPr>
        <p:spPr>
          <a:xfrm>
            <a:off x="4489053" y="2666998"/>
            <a:ext cx="3198940" cy="1524000"/>
          </a:xfrm>
          <a:prstGeom prst="round2DiagRect">
            <a:avLst>
              <a:gd name="adj1" fmla="val 16667"/>
              <a:gd name="adj2" fmla="val 0"/>
            </a:avLst>
          </a:prstGeom>
          <a:noFill/>
          <a:ln w="19050" cap="sq" cmpd="sng">
            <a:solidFill>
              <a:srgbClr val="697C98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15" name="Google Shape;215;p16"/>
          <p:cNvSpPr txBox="1">
            <a:spLocks noGrp="1"/>
          </p:cNvSpPr>
          <p:nvPr>
            <p:ph type="body" idx="6"/>
          </p:nvPr>
        </p:nvSpPr>
        <p:spPr>
          <a:xfrm>
            <a:off x="4487593" y="4980857"/>
            <a:ext cx="3200400" cy="8103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16" name="Google Shape;216;p16"/>
          <p:cNvSpPr txBox="1">
            <a:spLocks noGrp="1"/>
          </p:cNvSpPr>
          <p:nvPr>
            <p:ph type="body" idx="7"/>
          </p:nvPr>
        </p:nvSpPr>
        <p:spPr>
          <a:xfrm>
            <a:off x="7852567" y="4404595"/>
            <a:ext cx="3190741" cy="576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17" name="Google Shape;217;p16"/>
          <p:cNvSpPr>
            <a:spLocks noGrp="1"/>
          </p:cNvSpPr>
          <p:nvPr>
            <p:ph type="pic" idx="8"/>
          </p:nvPr>
        </p:nvSpPr>
        <p:spPr>
          <a:xfrm>
            <a:off x="7852442" y="2666998"/>
            <a:ext cx="3194969" cy="1524000"/>
          </a:xfrm>
          <a:prstGeom prst="round2DiagRect">
            <a:avLst>
              <a:gd name="adj1" fmla="val 16667"/>
              <a:gd name="adj2" fmla="val 0"/>
            </a:avLst>
          </a:prstGeom>
          <a:noFill/>
          <a:ln w="19050" cap="sq" cmpd="sng">
            <a:solidFill>
              <a:srgbClr val="697C98">
                <a:alpha val="60000"/>
              </a:srgbClr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88900" dist="38100" dir="5400000" algn="t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R="0" lvl="2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R="0" lvl="3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R="0" lvl="4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R="0" lvl="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R="0" lvl="6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R="0" lvl="7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R="0" lvl="8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18" name="Google Shape;218;p16"/>
          <p:cNvSpPr txBox="1">
            <a:spLocks noGrp="1"/>
          </p:cNvSpPr>
          <p:nvPr>
            <p:ph type="body" idx="9"/>
          </p:nvPr>
        </p:nvSpPr>
        <p:spPr>
          <a:xfrm>
            <a:off x="7852442" y="4980854"/>
            <a:ext cx="3194968" cy="8103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228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19" name="Google Shape;219;p16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0" name="Google Shape;220;p16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1" name="Google Shape;221;p16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  <a:p>
            <a:pPr marL="32004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  <a:p>
            <a:pPr marL="45720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  <a:p>
            <a:pPr marL="64008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7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sz="3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4" name="Google Shape;224;p17"/>
          <p:cNvSpPr txBox="1">
            <a:spLocks noGrp="1"/>
          </p:cNvSpPr>
          <p:nvPr>
            <p:ph type="body" idx="1"/>
          </p:nvPr>
        </p:nvSpPr>
        <p:spPr>
          <a:xfrm rot="5400000">
            <a:off x="4323555" y="-932655"/>
            <a:ext cx="3541714" cy="9905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191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873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25" name="Google Shape;225;p17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6" name="Google Shape;226;p17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7" name="Google Shape;227;p17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8"/>
          <p:cNvSpPr txBox="1">
            <a:spLocks noGrp="1"/>
          </p:cNvSpPr>
          <p:nvPr>
            <p:ph type="title"/>
          </p:nvPr>
        </p:nvSpPr>
        <p:spPr>
          <a:xfrm rot="5400000">
            <a:off x="7454105" y="2197894"/>
            <a:ext cx="5181601" cy="2005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sz="3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0" name="Google Shape;230;p18"/>
          <p:cNvSpPr txBox="1">
            <a:spLocks noGrp="1"/>
          </p:cNvSpPr>
          <p:nvPr>
            <p:ph type="body" idx="1"/>
          </p:nvPr>
        </p:nvSpPr>
        <p:spPr>
          <a:xfrm rot="5400000">
            <a:off x="2424904" y="-673895"/>
            <a:ext cx="5181601" cy="774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191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8735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7147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55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339725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231" name="Google Shape;231;p18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2" name="Google Shape;232;p18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3" name="Google Shape;233;p18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 descr="\\DROBO-FS\QuickDrops\JB\PPTX NG\Droplets\LightingOverlay.png"/>
          <p:cNvPicPr preferRelativeResize="0"/>
          <p:nvPr/>
        </p:nvPicPr>
        <p:blipFill rotWithShape="1">
          <a:blip r:embed="rId19">
            <a:alphaModFix amt="30000"/>
          </a:blip>
          <a:srcRect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" name="Google Shape;11;p1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12" name="Google Shape;12;p1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</p:grpSpPr>
          <p:sp>
            <p:nvSpPr>
              <p:cNvPr id="13" name="Google Shape;13;p1"/>
              <p:cNvSpPr/>
              <p:nvPr/>
            </p:nvSpPr>
            <p:spPr>
              <a:xfrm>
                <a:off x="114300" y="4763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4;p1"/>
              <p:cNvSpPr/>
              <p:nvPr/>
            </p:nvSpPr>
            <p:spPr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4000" y="108000"/>
                      <a:pt x="108000" y="87000"/>
                      <a:pt x="108000" y="60000"/>
                    </a:cubicBezTo>
                    <a:cubicBezTo>
                      <a:pt x="108000" y="33000"/>
                      <a:pt x="84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;p1"/>
              <p:cNvSpPr/>
              <p:nvPr/>
            </p:nvSpPr>
            <p:spPr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6000" y="12000"/>
                      <a:pt x="12000" y="33000"/>
                      <a:pt x="12000" y="60000"/>
                    </a:cubicBezTo>
                    <a:cubicBezTo>
                      <a:pt x="12000" y="87000"/>
                      <a:pt x="36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p1"/>
              <p:cNvSpPr/>
              <p:nvPr/>
            </p:nvSpPr>
            <p:spPr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12274" y="120000"/>
                    </a:moveTo>
                    <a:lnTo>
                      <a:pt x="0" y="65836"/>
                    </a:lnTo>
                    <a:lnTo>
                      <a:pt x="0" y="0"/>
                    </a:lnTo>
                    <a:lnTo>
                      <a:pt x="7725" y="0"/>
                    </a:lnTo>
                    <a:lnTo>
                      <a:pt x="7725" y="65521"/>
                    </a:lnTo>
                    <a:lnTo>
                      <a:pt x="120000" y="119368"/>
                    </a:lnTo>
                    <a:lnTo>
                      <a:pt x="112274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7" name="Google Shape;17;p1"/>
              <p:cNvSpPr/>
              <p:nvPr/>
            </p:nvSpPr>
            <p:spPr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9000" y="0"/>
                      <a:pt x="120000" y="18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4000" y="108000"/>
                      <a:pt x="108000" y="87000"/>
                      <a:pt x="108000" y="60000"/>
                    </a:cubicBezTo>
                    <a:cubicBezTo>
                      <a:pt x="108000" y="27000"/>
                      <a:pt x="93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" name="Google Shape;18;p1"/>
              <p:cNvSpPr/>
              <p:nvPr/>
            </p:nvSpPr>
            <p:spPr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13819" y="120000"/>
                    </a:moveTo>
                    <a:lnTo>
                      <a:pt x="0" y="51009"/>
                    </a:lnTo>
                    <a:lnTo>
                      <a:pt x="0" y="0"/>
                    </a:lnTo>
                    <a:lnTo>
                      <a:pt x="9270" y="0"/>
                    </a:lnTo>
                    <a:lnTo>
                      <a:pt x="9270" y="50610"/>
                    </a:lnTo>
                    <a:lnTo>
                      <a:pt x="120000" y="119200"/>
                    </a:lnTo>
                    <a:lnTo>
                      <a:pt x="113819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19" name="Google Shape;19;p1"/>
              <p:cNvSpPr/>
              <p:nvPr/>
            </p:nvSpPr>
            <p:spPr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120000"/>
                    </a:moveTo>
                    <a:lnTo>
                      <a:pt x="97500" y="120000"/>
                    </a:lnTo>
                    <a:lnTo>
                      <a:pt x="97500" y="40069"/>
                    </a:lnTo>
                    <a:lnTo>
                      <a:pt x="0" y="1252"/>
                    </a:lnTo>
                    <a:lnTo>
                      <a:pt x="18750" y="0"/>
                    </a:lnTo>
                    <a:lnTo>
                      <a:pt x="120000" y="39443"/>
                    </a:lnTo>
                    <a:lnTo>
                      <a:pt x="12000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0" name="Google Shape;20;p1"/>
              <p:cNvSpPr/>
              <p:nvPr/>
            </p:nvSpPr>
            <p:spPr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9000" y="0"/>
                      <a:pt x="120000" y="21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27000"/>
                      <a:pt x="93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1"/>
              <p:cNvSpPr/>
              <p:nvPr/>
            </p:nvSpPr>
            <p:spPr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p1"/>
              <p:cNvSpPr/>
              <p:nvPr/>
            </p:nvSpPr>
            <p:spPr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15939" y="119999"/>
                    </a:moveTo>
                    <a:lnTo>
                      <a:pt x="21654" y="44457"/>
                    </a:lnTo>
                    <a:lnTo>
                      <a:pt x="0" y="2168"/>
                    </a:lnTo>
                    <a:lnTo>
                      <a:pt x="6766" y="0"/>
                    </a:lnTo>
                    <a:lnTo>
                      <a:pt x="28421" y="41204"/>
                    </a:lnTo>
                    <a:lnTo>
                      <a:pt x="120000" y="115662"/>
                    </a:lnTo>
                    <a:lnTo>
                      <a:pt x="115939" y="119999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3" name="Google Shape;23;p1"/>
              <p:cNvSpPr/>
              <p:nvPr/>
            </p:nvSpPr>
            <p:spPr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45882" y="120000"/>
                      <a:pt x="31764" y="116129"/>
                      <a:pt x="21176" y="104516"/>
                    </a:cubicBezTo>
                    <a:cubicBezTo>
                      <a:pt x="0" y="77419"/>
                      <a:pt x="0" y="38709"/>
                      <a:pt x="21176" y="15483"/>
                    </a:cubicBezTo>
                    <a:cubicBezTo>
                      <a:pt x="31764" y="3870"/>
                      <a:pt x="45882" y="0"/>
                      <a:pt x="60000" y="0"/>
                    </a:cubicBezTo>
                    <a:cubicBezTo>
                      <a:pt x="74117" y="0"/>
                      <a:pt x="88235" y="3870"/>
                      <a:pt x="98823" y="15483"/>
                    </a:cubicBezTo>
                    <a:cubicBezTo>
                      <a:pt x="120000" y="38709"/>
                      <a:pt x="120000" y="77419"/>
                      <a:pt x="98823" y="104516"/>
                    </a:cubicBezTo>
                    <a:cubicBezTo>
                      <a:pt x="88235" y="116129"/>
                      <a:pt x="74117" y="120000"/>
                      <a:pt x="60000" y="120000"/>
                    </a:cubicBezTo>
                    <a:close/>
                    <a:moveTo>
                      <a:pt x="60000" y="15483"/>
                    </a:moveTo>
                    <a:cubicBezTo>
                      <a:pt x="49411" y="15483"/>
                      <a:pt x="38823" y="19354"/>
                      <a:pt x="31764" y="27096"/>
                    </a:cubicBezTo>
                    <a:cubicBezTo>
                      <a:pt x="14117" y="46451"/>
                      <a:pt x="14117" y="73548"/>
                      <a:pt x="31764" y="92903"/>
                    </a:cubicBezTo>
                    <a:cubicBezTo>
                      <a:pt x="38823" y="100645"/>
                      <a:pt x="49411" y="104516"/>
                      <a:pt x="60000" y="104516"/>
                    </a:cubicBezTo>
                    <a:cubicBezTo>
                      <a:pt x="70588" y="104516"/>
                      <a:pt x="81176" y="100645"/>
                      <a:pt x="88235" y="92903"/>
                    </a:cubicBezTo>
                    <a:cubicBezTo>
                      <a:pt x="105882" y="73548"/>
                      <a:pt x="105882" y="46451"/>
                      <a:pt x="88235" y="27096"/>
                    </a:cubicBezTo>
                    <a:cubicBezTo>
                      <a:pt x="81176" y="19354"/>
                      <a:pt x="70588" y="15483"/>
                      <a:pt x="60000" y="1548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cxnSp>
            <p:nvCxnSpPr>
              <p:cNvPr id="24" name="Google Shape;24;p1"/>
              <p:cNvCxnSpPr/>
              <p:nvPr/>
            </p:nvCxnSpPr>
            <p:spPr>
              <a:xfrm>
                <a:off x="-4763" y="9525"/>
                <a:ext cx="0" cy="0"/>
              </a:xfrm>
              <a:prstGeom prst="straightConnector1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 w="9525" cap="flat" cmpd="sng">
                <a:solidFill>
                  <a:srgbClr val="FFFFFF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</p:cxnSp>
          <p:sp>
            <p:nvSpPr>
              <p:cNvPr id="25" name="Google Shape;25;p1"/>
              <p:cNvSpPr/>
              <p:nvPr/>
            </p:nvSpPr>
            <p:spPr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9230" y="120000"/>
                    </a:moveTo>
                    <a:lnTo>
                      <a:pt x="0" y="106500"/>
                    </a:lnTo>
                    <a:lnTo>
                      <a:pt x="106153" y="0"/>
                    </a:lnTo>
                    <a:lnTo>
                      <a:pt x="120000" y="13500"/>
                    </a:lnTo>
                    <a:lnTo>
                      <a:pt x="923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6" name="Google Shape;26;p1"/>
              <p:cNvSpPr/>
              <p:nvPr/>
            </p:nvSpPr>
            <p:spPr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120000"/>
                    </a:moveTo>
                    <a:lnTo>
                      <a:pt x="100645" y="120000"/>
                    </a:lnTo>
                    <a:lnTo>
                      <a:pt x="100645" y="30891"/>
                    </a:lnTo>
                    <a:lnTo>
                      <a:pt x="0" y="4752"/>
                    </a:lnTo>
                    <a:lnTo>
                      <a:pt x="15483" y="0"/>
                    </a:lnTo>
                    <a:lnTo>
                      <a:pt x="120000" y="27326"/>
                    </a:lnTo>
                    <a:lnTo>
                      <a:pt x="12000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7" name="Google Shape;27;p1"/>
              <p:cNvSpPr/>
              <p:nvPr/>
            </p:nvSpPr>
            <p:spPr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120000"/>
                    </a:moveTo>
                    <a:lnTo>
                      <a:pt x="104000" y="120000"/>
                    </a:lnTo>
                    <a:lnTo>
                      <a:pt x="104000" y="33600"/>
                    </a:lnTo>
                    <a:lnTo>
                      <a:pt x="0" y="3600"/>
                    </a:lnTo>
                    <a:lnTo>
                      <a:pt x="12000" y="0"/>
                    </a:lnTo>
                    <a:lnTo>
                      <a:pt x="120000" y="32400"/>
                    </a:lnTo>
                    <a:lnTo>
                      <a:pt x="12000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28" name="Google Shape;28;p1"/>
              <p:cNvSpPr/>
              <p:nvPr/>
            </p:nvSpPr>
            <p:spPr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30000" y="120000"/>
                      <a:pt x="0" y="93913"/>
                      <a:pt x="0" y="62608"/>
                    </a:cubicBezTo>
                    <a:cubicBezTo>
                      <a:pt x="0" y="26086"/>
                      <a:pt x="30000" y="0"/>
                      <a:pt x="60000" y="0"/>
                    </a:cubicBezTo>
                    <a:cubicBezTo>
                      <a:pt x="90000" y="0"/>
                      <a:pt x="120000" y="26086"/>
                      <a:pt x="120000" y="62608"/>
                    </a:cubicBezTo>
                    <a:cubicBezTo>
                      <a:pt x="120000" y="93913"/>
                      <a:pt x="90000" y="120000"/>
                      <a:pt x="60000" y="120000"/>
                    </a:cubicBezTo>
                    <a:close/>
                    <a:moveTo>
                      <a:pt x="60000" y="20869"/>
                    </a:moveTo>
                    <a:cubicBezTo>
                      <a:pt x="40000" y="20869"/>
                      <a:pt x="20000" y="41739"/>
                      <a:pt x="20000" y="62608"/>
                    </a:cubicBezTo>
                    <a:cubicBezTo>
                      <a:pt x="20000" y="83478"/>
                      <a:pt x="40000" y="99130"/>
                      <a:pt x="60000" y="99130"/>
                    </a:cubicBezTo>
                    <a:cubicBezTo>
                      <a:pt x="80000" y="99130"/>
                      <a:pt x="100000" y="83478"/>
                      <a:pt x="100000" y="62608"/>
                    </a:cubicBezTo>
                    <a:cubicBezTo>
                      <a:pt x="100000" y="41739"/>
                      <a:pt x="80000" y="20869"/>
                      <a:pt x="60000" y="20869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" name="Google Shape;29;p1"/>
              <p:cNvSpPr/>
              <p:nvPr/>
            </p:nvSpPr>
            <p:spPr>
              <a:xfrm>
                <a:off x="133350" y="4662488"/>
                <a:ext cx="23813" cy="2181225"/>
              </a:xfrm>
              <a:prstGeom prst="rect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" name="Google Shape;30;p1"/>
              <p:cNvSpPr/>
              <p:nvPr/>
            </p:nvSpPr>
            <p:spPr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7725" y="120000"/>
                    </a:moveTo>
                    <a:lnTo>
                      <a:pt x="0" y="120000"/>
                    </a:lnTo>
                    <a:lnTo>
                      <a:pt x="0" y="54449"/>
                    </a:lnTo>
                    <a:lnTo>
                      <a:pt x="0" y="54132"/>
                    </a:lnTo>
                    <a:lnTo>
                      <a:pt x="112274" y="0"/>
                    </a:lnTo>
                    <a:lnTo>
                      <a:pt x="120000" y="634"/>
                    </a:lnTo>
                    <a:lnTo>
                      <a:pt x="7725" y="54766"/>
                    </a:lnTo>
                    <a:lnTo>
                      <a:pt x="7725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1" name="Google Shape;31;p1"/>
              <p:cNvSpPr/>
              <p:nvPr/>
            </p:nvSpPr>
            <p:spPr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4000" y="108000"/>
                      <a:pt x="108000" y="87000"/>
                      <a:pt x="108000" y="60000"/>
                    </a:cubicBezTo>
                    <a:cubicBezTo>
                      <a:pt x="108000" y="33000"/>
                      <a:pt x="84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" name="Google Shape;32;p1"/>
              <p:cNvSpPr/>
              <p:nvPr/>
            </p:nvSpPr>
            <p:spPr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20000" y="120000"/>
                    </a:moveTo>
                    <a:lnTo>
                      <a:pt x="80000" y="120000"/>
                    </a:lnTo>
                    <a:lnTo>
                      <a:pt x="80000" y="23342"/>
                    </a:lnTo>
                    <a:lnTo>
                      <a:pt x="0" y="469"/>
                    </a:lnTo>
                    <a:lnTo>
                      <a:pt x="40000" y="0"/>
                    </a:lnTo>
                    <a:lnTo>
                      <a:pt x="120000" y="22872"/>
                    </a:lnTo>
                    <a:lnTo>
                      <a:pt x="12000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3" name="Google Shape;33;p1"/>
              <p:cNvSpPr/>
              <p:nvPr/>
            </p:nvSpPr>
            <p:spPr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1"/>
              <p:cNvSpPr/>
              <p:nvPr/>
            </p:nvSpPr>
            <p:spPr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9152" y="120000"/>
                    </a:moveTo>
                    <a:lnTo>
                      <a:pt x="0" y="120000"/>
                    </a:lnTo>
                    <a:lnTo>
                      <a:pt x="0" y="68819"/>
                    </a:lnTo>
                    <a:lnTo>
                      <a:pt x="1525" y="68418"/>
                    </a:lnTo>
                    <a:lnTo>
                      <a:pt x="112372" y="0"/>
                    </a:lnTo>
                    <a:lnTo>
                      <a:pt x="120000" y="801"/>
                    </a:lnTo>
                    <a:lnTo>
                      <a:pt x="9152" y="69220"/>
                    </a:lnTo>
                    <a:lnTo>
                      <a:pt x="9152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5" name="Google Shape;35;p1"/>
              <p:cNvSpPr/>
              <p:nvPr/>
            </p:nvSpPr>
            <p:spPr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8750" y="120000"/>
                    </a:moveTo>
                    <a:lnTo>
                      <a:pt x="0" y="118747"/>
                    </a:lnTo>
                    <a:lnTo>
                      <a:pt x="101250" y="79930"/>
                    </a:lnTo>
                    <a:lnTo>
                      <a:pt x="101250" y="0"/>
                    </a:lnTo>
                    <a:lnTo>
                      <a:pt x="120000" y="0"/>
                    </a:lnTo>
                    <a:lnTo>
                      <a:pt x="120000" y="80556"/>
                    </a:lnTo>
                    <a:lnTo>
                      <a:pt x="18750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6" name="Google Shape;36;p1"/>
              <p:cNvSpPr/>
              <p:nvPr/>
            </p:nvSpPr>
            <p:spPr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6000" y="12000"/>
                      <a:pt x="12000" y="33000"/>
                      <a:pt x="12000" y="60000"/>
                    </a:cubicBezTo>
                    <a:cubicBezTo>
                      <a:pt x="12000" y="87000"/>
                      <a:pt x="36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37;p1"/>
              <p:cNvSpPr/>
              <p:nvPr/>
            </p:nvSpPr>
            <p:spPr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6000" y="12000"/>
                      <a:pt x="12000" y="33000"/>
                      <a:pt x="12000" y="60000"/>
                    </a:cubicBezTo>
                    <a:cubicBezTo>
                      <a:pt x="12000" y="87000"/>
                      <a:pt x="36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" name="Google Shape;38;p1"/>
              <p:cNvSpPr/>
              <p:nvPr/>
            </p:nvSpPr>
            <p:spPr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844" y="120000"/>
                    </a:moveTo>
                    <a:lnTo>
                      <a:pt x="0" y="117791"/>
                    </a:lnTo>
                    <a:lnTo>
                      <a:pt x="20532" y="75828"/>
                    </a:lnTo>
                    <a:lnTo>
                      <a:pt x="21901" y="75828"/>
                    </a:lnTo>
                    <a:lnTo>
                      <a:pt x="115893" y="0"/>
                    </a:lnTo>
                    <a:lnTo>
                      <a:pt x="120000" y="4417"/>
                    </a:lnTo>
                    <a:lnTo>
                      <a:pt x="27376" y="79141"/>
                    </a:lnTo>
                    <a:lnTo>
                      <a:pt x="6844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39" name="Google Shape;39;p1"/>
              <p:cNvSpPr/>
              <p:nvPr/>
            </p:nvSpPr>
            <p:spPr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58181" y="120000"/>
                    </a:moveTo>
                    <a:cubicBezTo>
                      <a:pt x="43636" y="120000"/>
                      <a:pt x="29090" y="112258"/>
                      <a:pt x="18181" y="100645"/>
                    </a:cubicBezTo>
                    <a:cubicBezTo>
                      <a:pt x="7272" y="92903"/>
                      <a:pt x="0" y="77419"/>
                      <a:pt x="0" y="58064"/>
                    </a:cubicBezTo>
                    <a:cubicBezTo>
                      <a:pt x="0" y="42580"/>
                      <a:pt x="7272" y="27096"/>
                      <a:pt x="18181" y="15483"/>
                    </a:cubicBezTo>
                    <a:cubicBezTo>
                      <a:pt x="29090" y="3870"/>
                      <a:pt x="43636" y="0"/>
                      <a:pt x="58181" y="0"/>
                    </a:cubicBezTo>
                    <a:cubicBezTo>
                      <a:pt x="72727" y="0"/>
                      <a:pt x="87272" y="3870"/>
                      <a:pt x="98181" y="15483"/>
                    </a:cubicBezTo>
                    <a:cubicBezTo>
                      <a:pt x="120000" y="38709"/>
                      <a:pt x="120000" y="77419"/>
                      <a:pt x="98181" y="100645"/>
                    </a:cubicBezTo>
                    <a:cubicBezTo>
                      <a:pt x="87272" y="112258"/>
                      <a:pt x="72727" y="120000"/>
                      <a:pt x="58181" y="120000"/>
                    </a:cubicBezTo>
                    <a:close/>
                    <a:moveTo>
                      <a:pt x="58181" y="15483"/>
                    </a:moveTo>
                    <a:cubicBezTo>
                      <a:pt x="47272" y="15483"/>
                      <a:pt x="36363" y="19354"/>
                      <a:pt x="29090" y="27096"/>
                    </a:cubicBezTo>
                    <a:cubicBezTo>
                      <a:pt x="21818" y="34838"/>
                      <a:pt x="14545" y="46451"/>
                      <a:pt x="14545" y="58064"/>
                    </a:cubicBezTo>
                    <a:cubicBezTo>
                      <a:pt x="14545" y="73548"/>
                      <a:pt x="21818" y="81290"/>
                      <a:pt x="29090" y="92903"/>
                    </a:cubicBezTo>
                    <a:cubicBezTo>
                      <a:pt x="36363" y="100645"/>
                      <a:pt x="47272" y="104516"/>
                      <a:pt x="58181" y="104516"/>
                    </a:cubicBezTo>
                    <a:cubicBezTo>
                      <a:pt x="69090" y="104516"/>
                      <a:pt x="80000" y="100645"/>
                      <a:pt x="87272" y="92903"/>
                    </a:cubicBezTo>
                    <a:cubicBezTo>
                      <a:pt x="105454" y="73548"/>
                      <a:pt x="105454" y="46451"/>
                      <a:pt x="87272" y="27096"/>
                    </a:cubicBezTo>
                    <a:cubicBezTo>
                      <a:pt x="80000" y="19354"/>
                      <a:pt x="69090" y="15483"/>
                      <a:pt x="58181" y="15483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" name="Google Shape;40;p1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</p:grpSpPr>
          <p:sp>
            <p:nvSpPr>
              <p:cNvPr id="41" name="Google Shape;41;p1"/>
              <p:cNvSpPr/>
              <p:nvPr/>
            </p:nvSpPr>
            <p:spPr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5475" y="120000"/>
                    </a:moveTo>
                    <a:lnTo>
                      <a:pt x="0" y="116656"/>
                    </a:lnTo>
                    <a:lnTo>
                      <a:pt x="92623" y="40123"/>
                    </a:lnTo>
                    <a:lnTo>
                      <a:pt x="113155" y="0"/>
                    </a:lnTo>
                    <a:lnTo>
                      <a:pt x="120000" y="2229"/>
                    </a:lnTo>
                    <a:lnTo>
                      <a:pt x="99467" y="43467"/>
                    </a:lnTo>
                    <a:lnTo>
                      <a:pt x="99467" y="43467"/>
                    </a:lnTo>
                    <a:lnTo>
                      <a:pt x="5475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42" name="Google Shape;42;p1"/>
              <p:cNvSpPr/>
              <p:nvPr/>
            </p:nvSpPr>
            <p:spPr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1818" y="120000"/>
                    </a:moveTo>
                    <a:cubicBezTo>
                      <a:pt x="47272" y="120000"/>
                      <a:pt x="32727" y="112500"/>
                      <a:pt x="21818" y="101250"/>
                    </a:cubicBezTo>
                    <a:cubicBezTo>
                      <a:pt x="0" y="78750"/>
                      <a:pt x="0" y="41250"/>
                      <a:pt x="21818" y="18750"/>
                    </a:cubicBezTo>
                    <a:cubicBezTo>
                      <a:pt x="32727" y="7500"/>
                      <a:pt x="47272" y="0"/>
                      <a:pt x="61818" y="0"/>
                    </a:cubicBezTo>
                    <a:cubicBezTo>
                      <a:pt x="76363" y="0"/>
                      <a:pt x="90909" y="7500"/>
                      <a:pt x="101818" y="18750"/>
                    </a:cubicBezTo>
                    <a:cubicBezTo>
                      <a:pt x="112727" y="30000"/>
                      <a:pt x="120000" y="45000"/>
                      <a:pt x="120000" y="60000"/>
                    </a:cubicBezTo>
                    <a:cubicBezTo>
                      <a:pt x="120000" y="75000"/>
                      <a:pt x="112727" y="90000"/>
                      <a:pt x="101818" y="101250"/>
                    </a:cubicBezTo>
                    <a:cubicBezTo>
                      <a:pt x="90909" y="112500"/>
                      <a:pt x="76363" y="120000"/>
                      <a:pt x="61818" y="120000"/>
                    </a:cubicBezTo>
                    <a:close/>
                    <a:moveTo>
                      <a:pt x="61818" y="15000"/>
                    </a:moveTo>
                    <a:cubicBezTo>
                      <a:pt x="50909" y="15000"/>
                      <a:pt x="40000" y="22500"/>
                      <a:pt x="32727" y="30000"/>
                    </a:cubicBezTo>
                    <a:cubicBezTo>
                      <a:pt x="14545" y="45000"/>
                      <a:pt x="14545" y="75000"/>
                      <a:pt x="32727" y="90000"/>
                    </a:cubicBezTo>
                    <a:cubicBezTo>
                      <a:pt x="40000" y="101250"/>
                      <a:pt x="50909" y="105000"/>
                      <a:pt x="61818" y="105000"/>
                    </a:cubicBezTo>
                    <a:cubicBezTo>
                      <a:pt x="72727" y="105000"/>
                      <a:pt x="83636" y="101250"/>
                      <a:pt x="94545" y="90000"/>
                    </a:cubicBezTo>
                    <a:cubicBezTo>
                      <a:pt x="109090" y="75000"/>
                      <a:pt x="109090" y="45000"/>
                      <a:pt x="94545" y="30000"/>
                    </a:cubicBezTo>
                    <a:cubicBezTo>
                      <a:pt x="83636" y="22500"/>
                      <a:pt x="72727" y="15000"/>
                      <a:pt x="61818" y="15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" name="Google Shape;43;p1"/>
              <p:cNvSpPr/>
              <p:nvPr/>
            </p:nvSpPr>
            <p:spPr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1"/>
              <p:cNvSpPr/>
              <p:nvPr/>
            </p:nvSpPr>
            <p:spPr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9574" y="120000"/>
                    </a:moveTo>
                    <a:lnTo>
                      <a:pt x="0" y="120000"/>
                    </a:lnTo>
                    <a:lnTo>
                      <a:pt x="0" y="67180"/>
                    </a:lnTo>
                    <a:lnTo>
                      <a:pt x="0" y="67180"/>
                    </a:lnTo>
                    <a:lnTo>
                      <a:pt x="112340" y="0"/>
                    </a:lnTo>
                    <a:lnTo>
                      <a:pt x="120000" y="990"/>
                    </a:lnTo>
                    <a:lnTo>
                      <a:pt x="9574" y="67675"/>
                    </a:lnTo>
                    <a:lnTo>
                      <a:pt x="9574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45" name="Google Shape;45;p1"/>
              <p:cNvSpPr/>
              <p:nvPr/>
            </p:nvSpPr>
            <p:spPr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1818" y="120000"/>
                    </a:moveTo>
                    <a:cubicBezTo>
                      <a:pt x="29090" y="120000"/>
                      <a:pt x="0" y="90909"/>
                      <a:pt x="0" y="58181"/>
                    </a:cubicBezTo>
                    <a:cubicBezTo>
                      <a:pt x="0" y="25454"/>
                      <a:pt x="29090" y="0"/>
                      <a:pt x="61818" y="0"/>
                    </a:cubicBezTo>
                    <a:cubicBezTo>
                      <a:pt x="94545" y="0"/>
                      <a:pt x="120000" y="25454"/>
                      <a:pt x="120000" y="58181"/>
                    </a:cubicBezTo>
                    <a:cubicBezTo>
                      <a:pt x="120000" y="90909"/>
                      <a:pt x="94545" y="120000"/>
                      <a:pt x="61818" y="120000"/>
                    </a:cubicBezTo>
                    <a:close/>
                    <a:moveTo>
                      <a:pt x="61818" y="14545"/>
                    </a:moveTo>
                    <a:cubicBezTo>
                      <a:pt x="36363" y="14545"/>
                      <a:pt x="14545" y="32727"/>
                      <a:pt x="14545" y="58181"/>
                    </a:cubicBezTo>
                    <a:cubicBezTo>
                      <a:pt x="14545" y="83636"/>
                      <a:pt x="36363" y="105454"/>
                      <a:pt x="61818" y="105454"/>
                    </a:cubicBezTo>
                    <a:cubicBezTo>
                      <a:pt x="83636" y="105454"/>
                      <a:pt x="105454" y="83636"/>
                      <a:pt x="105454" y="58181"/>
                    </a:cubicBezTo>
                    <a:cubicBezTo>
                      <a:pt x="105454" y="32727"/>
                      <a:pt x="83636" y="14545"/>
                      <a:pt x="61818" y="14545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" name="Google Shape;46;p1"/>
              <p:cNvSpPr/>
              <p:nvPr/>
            </p:nvSpPr>
            <p:spPr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9375" y="120000"/>
                    </a:moveTo>
                    <a:lnTo>
                      <a:pt x="0" y="120000"/>
                    </a:lnTo>
                    <a:lnTo>
                      <a:pt x="0" y="97430"/>
                    </a:lnTo>
                    <a:lnTo>
                      <a:pt x="108750" y="75724"/>
                    </a:lnTo>
                    <a:lnTo>
                      <a:pt x="108750" y="0"/>
                    </a:lnTo>
                    <a:lnTo>
                      <a:pt x="120000" y="0"/>
                    </a:lnTo>
                    <a:lnTo>
                      <a:pt x="120000" y="76464"/>
                    </a:lnTo>
                    <a:lnTo>
                      <a:pt x="9375" y="98170"/>
                    </a:lnTo>
                    <a:lnTo>
                      <a:pt x="9375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47" name="Google Shape;47;p1"/>
              <p:cNvSpPr/>
              <p:nvPr/>
            </p:nvSpPr>
            <p:spPr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3000" y="12000"/>
                      <a:pt x="12000" y="33000"/>
                      <a:pt x="12000" y="60000"/>
                    </a:cubicBezTo>
                    <a:cubicBezTo>
                      <a:pt x="12000" y="87000"/>
                      <a:pt x="33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1"/>
              <p:cNvSpPr/>
              <p:nvPr/>
            </p:nvSpPr>
            <p:spPr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11134" y="120000"/>
                    </a:moveTo>
                    <a:lnTo>
                      <a:pt x="0" y="120000"/>
                    </a:lnTo>
                    <a:lnTo>
                      <a:pt x="0" y="37427"/>
                    </a:lnTo>
                    <a:lnTo>
                      <a:pt x="108865" y="18713"/>
                    </a:lnTo>
                    <a:lnTo>
                      <a:pt x="108865" y="0"/>
                    </a:lnTo>
                    <a:lnTo>
                      <a:pt x="120000" y="0"/>
                    </a:lnTo>
                    <a:lnTo>
                      <a:pt x="120000" y="19348"/>
                    </a:lnTo>
                    <a:lnTo>
                      <a:pt x="11134" y="38061"/>
                    </a:lnTo>
                    <a:lnTo>
                      <a:pt x="11134" y="120000"/>
                    </a:ln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</p:sp>
          <p:sp>
            <p:nvSpPr>
              <p:cNvPr id="49" name="Google Shape;49;p1"/>
              <p:cNvSpPr/>
              <p:nvPr/>
            </p:nvSpPr>
            <p:spPr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60000" y="120000"/>
                    </a:moveTo>
                    <a:cubicBezTo>
                      <a:pt x="27000" y="120000"/>
                      <a:pt x="0" y="93000"/>
                      <a:pt x="0" y="60000"/>
                    </a:cubicBezTo>
                    <a:cubicBezTo>
                      <a:pt x="0" y="27000"/>
                      <a:pt x="27000" y="0"/>
                      <a:pt x="60000" y="0"/>
                    </a:cubicBezTo>
                    <a:cubicBezTo>
                      <a:pt x="93000" y="0"/>
                      <a:pt x="120000" y="27000"/>
                      <a:pt x="120000" y="60000"/>
                    </a:cubicBezTo>
                    <a:cubicBezTo>
                      <a:pt x="120000" y="93000"/>
                      <a:pt x="93000" y="120000"/>
                      <a:pt x="60000" y="120000"/>
                    </a:cubicBezTo>
                    <a:close/>
                    <a:moveTo>
                      <a:pt x="60000" y="12000"/>
                    </a:moveTo>
                    <a:cubicBezTo>
                      <a:pt x="36000" y="12000"/>
                      <a:pt x="12000" y="33000"/>
                      <a:pt x="12000" y="60000"/>
                    </a:cubicBezTo>
                    <a:cubicBezTo>
                      <a:pt x="12000" y="87000"/>
                      <a:pt x="36000" y="108000"/>
                      <a:pt x="60000" y="108000"/>
                    </a:cubicBezTo>
                    <a:cubicBezTo>
                      <a:pt x="87000" y="108000"/>
                      <a:pt x="108000" y="87000"/>
                      <a:pt x="108000" y="60000"/>
                    </a:cubicBezTo>
                    <a:cubicBezTo>
                      <a:pt x="108000" y="33000"/>
                      <a:pt x="87000" y="12000"/>
                      <a:pt x="60000" y="1200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" name="Google Shape;50;p1"/>
              <p:cNvSpPr/>
              <p:nvPr/>
            </p:nvSpPr>
            <p:spPr>
              <a:xfrm>
                <a:off x="11939587" y="6596063"/>
                <a:ext cx="23813" cy="252413"/>
              </a:xfrm>
              <a:prstGeom prst="rect">
                <a:avLst/>
              </a:prstGeom>
              <a:gradFill>
                <a:gsLst>
                  <a:gs pos="0">
                    <a:schemeClr val="dk2"/>
                  </a:gs>
                  <a:gs pos="100000">
                    <a:srgbClr val="12161A"/>
                  </a:gs>
                </a:gsLst>
                <a:lin ang="5400000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1" name="Google Shape;51;p1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  <a:defRPr sz="3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"/>
          <p:cNvSpPr txBox="1"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19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1pPr>
            <a:lvl2pPr marL="914400" marR="0" lvl="1" indent="-38735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2pPr>
            <a:lvl3pPr marL="1371600" marR="0" lvl="2" indent="-37147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5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3pPr>
            <a:lvl4pPr marL="1828800" marR="0" lvl="3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4pPr>
            <a:lvl5pPr marL="2286000" marR="0" lvl="4" indent="-355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5pPr>
            <a:lvl6pPr marL="2743200" marR="0" lvl="5" indent="-33972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6pPr>
            <a:lvl7pPr marL="3200400" marR="0" lvl="6" indent="-33972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7pPr>
            <a:lvl8pPr marL="3657600" marR="0" lvl="7" indent="-33972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8pPr>
            <a:lvl9pPr marL="4114800" marR="0" lvl="8" indent="-339725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75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defRPr>
            </a:lvl9pPr>
          </a:lstStyle>
          <a:p>
            <a:endParaRPr/>
          </a:p>
        </p:txBody>
      </p:sp>
      <p:sp>
        <p:nvSpPr>
          <p:cNvPr id="53" name="Google Shape;53;p1"/>
          <p:cNvSpPr txBox="1">
            <a:spLocks noGrp="1"/>
          </p:cNvSpPr>
          <p:nvPr>
            <p:ph type="dt" idx="10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4" name="Google Shape;54;p1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1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  <a:defRPr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1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  <a:p>
            <a:pPr marL="914400" lvl="2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  <a:p>
            <a:pPr marL="1371600" lvl="3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  <a:p>
            <a:pPr marL="1828800" lvl="4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  <a:p>
            <a:pPr marL="2286000" lvl="5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  <a:p>
            <a:pPr marL="3200400" lvl="6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  <a:p>
            <a:pPr marL="4572000" lvl="7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  <a:p>
            <a:pPr marL="6400800" lvl="8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</a:pPr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9"/>
          <p:cNvSpPr txBox="1"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4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LAB 1</a:t>
            </a:r>
            <a:br>
              <a:rPr lang="en-US" sz="44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4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 TO VHDL</a:t>
            </a:r>
            <a:endParaRPr/>
          </a:p>
        </p:txBody>
      </p:sp>
      <p:sp>
        <p:nvSpPr>
          <p:cNvPr id="240" name="Google Shape;240;p19"/>
          <p:cNvSpPr txBox="1">
            <a:spLocks noGrp="1"/>
          </p:cNvSpPr>
          <p:nvPr>
            <p:ph type="subTitle" idx="1"/>
          </p:nvPr>
        </p:nvSpPr>
        <p:spPr>
          <a:xfrm>
            <a:off x="3617119" y="5791200"/>
            <a:ext cx="7050881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136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EXERTED FROM DR. ADNAN SHAOUT- </a:t>
            </a:r>
            <a:r>
              <a:rPr lang="en-US" sz="136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UNIVERSITY OF MICHIGAN-DEARBORN</a:t>
            </a:r>
            <a:endParaRPr/>
          </a:p>
        </p:txBody>
      </p:sp>
      <p:sp>
        <p:nvSpPr>
          <p:cNvPr id="241" name="Google Shape;241;p19"/>
          <p:cNvSpPr txBox="1"/>
          <p:nvPr/>
        </p:nvSpPr>
        <p:spPr>
          <a:xfrm>
            <a:off x="8763000" y="200026"/>
            <a:ext cx="3124200" cy="922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65"/>
              <a:buFont typeface="Arial"/>
              <a:buNone/>
            </a:pPr>
            <a:r>
              <a:rPr lang="en-US" sz="1665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FACULTY OF ENGINEERING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r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65"/>
              <a:buFont typeface="Arial"/>
              <a:buNone/>
            </a:pPr>
            <a:r>
              <a:rPr lang="en-US" sz="1665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CAIRO UNIVERSITY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19"/>
          <p:cNvSpPr txBox="1"/>
          <p:nvPr/>
        </p:nvSpPr>
        <p:spPr>
          <a:xfrm>
            <a:off x="3424238" y="3615532"/>
            <a:ext cx="6400800" cy="423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CMPN301: COMPUTER ARCHITECTURE COURSE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0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r>
              <a:rPr lang="en-US"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 FLOW</a:t>
            </a:r>
            <a:endParaRPr sz="3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49" name="Google Shape;249;p20"/>
          <p:cNvGrpSpPr/>
          <p:nvPr/>
        </p:nvGrpSpPr>
        <p:grpSpPr>
          <a:xfrm>
            <a:off x="4885743" y="1604497"/>
            <a:ext cx="2418131" cy="5020604"/>
            <a:chOff x="2905734" y="4297"/>
            <a:chExt cx="2418131" cy="5020604"/>
          </a:xfrm>
        </p:grpSpPr>
        <p:sp>
          <p:nvSpPr>
            <p:cNvPr id="250" name="Google Shape;250;p20"/>
            <p:cNvSpPr/>
            <p:nvPr/>
          </p:nvSpPr>
          <p:spPr>
            <a:xfrm>
              <a:off x="2938752" y="4297"/>
              <a:ext cx="2352094" cy="346248"/>
            </a:xfrm>
            <a:prstGeom prst="roundRect">
              <a:avLst>
                <a:gd name="adj" fmla="val 10000"/>
              </a:avLst>
            </a:prstGeom>
            <a:solidFill>
              <a:schemeClr val="accent2"/>
            </a:solidFill>
            <a:ln w="222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20"/>
            <p:cNvSpPr txBox="1"/>
            <p:nvPr/>
          </p:nvSpPr>
          <p:spPr>
            <a:xfrm>
              <a:off x="2948893" y="14438"/>
              <a:ext cx="2331812" cy="325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525" tIns="49525" rIns="49525" bIns="4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Times New Roman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HDL Design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20"/>
            <p:cNvSpPr/>
            <p:nvPr/>
          </p:nvSpPr>
          <p:spPr>
            <a:xfrm rot="5400000">
              <a:off x="4049878" y="359202"/>
              <a:ext cx="129843" cy="155811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AAB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3" name="Google Shape;253;p20"/>
            <p:cNvSpPr txBox="1"/>
            <p:nvPr/>
          </p:nvSpPr>
          <p:spPr>
            <a:xfrm>
              <a:off x="4068057" y="372186"/>
              <a:ext cx="93487" cy="908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4" name="Google Shape;254;p20"/>
            <p:cNvSpPr/>
            <p:nvPr/>
          </p:nvSpPr>
          <p:spPr>
            <a:xfrm>
              <a:off x="2938752" y="523670"/>
              <a:ext cx="2352094" cy="346248"/>
            </a:xfrm>
            <a:prstGeom prst="roundRect">
              <a:avLst>
                <a:gd name="adj" fmla="val 10000"/>
              </a:avLst>
            </a:prstGeom>
            <a:solidFill>
              <a:schemeClr val="accent2"/>
            </a:solidFill>
            <a:ln w="222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5" name="Google Shape;255;p20"/>
            <p:cNvSpPr txBox="1"/>
            <p:nvPr/>
          </p:nvSpPr>
          <p:spPr>
            <a:xfrm>
              <a:off x="2948893" y="533811"/>
              <a:ext cx="2331812" cy="325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525" tIns="49525" rIns="49525" bIns="4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Times New Roman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Behavioral Simulation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6" name="Google Shape;256;p20"/>
            <p:cNvSpPr/>
            <p:nvPr/>
          </p:nvSpPr>
          <p:spPr>
            <a:xfrm rot="5400000">
              <a:off x="4049878" y="878575"/>
              <a:ext cx="129843" cy="155811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AAB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7" name="Google Shape;257;p20"/>
            <p:cNvSpPr txBox="1"/>
            <p:nvPr/>
          </p:nvSpPr>
          <p:spPr>
            <a:xfrm>
              <a:off x="4068057" y="891559"/>
              <a:ext cx="93487" cy="908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20"/>
            <p:cNvSpPr/>
            <p:nvPr/>
          </p:nvSpPr>
          <p:spPr>
            <a:xfrm>
              <a:off x="2938752" y="1043043"/>
              <a:ext cx="2352094" cy="346248"/>
            </a:xfrm>
            <a:prstGeom prst="roundRect">
              <a:avLst>
                <a:gd name="adj" fmla="val 10000"/>
              </a:avLst>
            </a:prstGeom>
            <a:solidFill>
              <a:srgbClr val="252C35"/>
            </a:solidFill>
            <a:ln w="15875" cap="flat" cmpd="sng">
              <a:solidFill>
                <a:srgbClr val="7B96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9" name="Google Shape;259;p20"/>
            <p:cNvSpPr txBox="1"/>
            <p:nvPr/>
          </p:nvSpPr>
          <p:spPr>
            <a:xfrm>
              <a:off x="2948893" y="1053184"/>
              <a:ext cx="2331812" cy="325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525" tIns="49525" rIns="49525" bIns="4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Times New Roman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Synthesis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0" name="Google Shape;260;p20"/>
            <p:cNvSpPr/>
            <p:nvPr/>
          </p:nvSpPr>
          <p:spPr>
            <a:xfrm rot="5400000">
              <a:off x="4049878" y="1397948"/>
              <a:ext cx="129843" cy="155811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AAB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1" name="Google Shape;261;p20"/>
            <p:cNvSpPr txBox="1"/>
            <p:nvPr/>
          </p:nvSpPr>
          <p:spPr>
            <a:xfrm>
              <a:off x="4068057" y="1410932"/>
              <a:ext cx="93487" cy="908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2" name="Google Shape;262;p20"/>
            <p:cNvSpPr/>
            <p:nvPr/>
          </p:nvSpPr>
          <p:spPr>
            <a:xfrm>
              <a:off x="2949257" y="1562416"/>
              <a:ext cx="2331084" cy="346248"/>
            </a:xfrm>
            <a:prstGeom prst="roundRect">
              <a:avLst>
                <a:gd name="adj" fmla="val 10000"/>
              </a:avLst>
            </a:prstGeom>
            <a:solidFill>
              <a:srgbClr val="252C35"/>
            </a:solidFill>
            <a:ln w="15875" cap="flat" cmpd="sng">
              <a:solidFill>
                <a:srgbClr val="7B96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3" name="Google Shape;263;p20"/>
            <p:cNvSpPr txBox="1"/>
            <p:nvPr/>
          </p:nvSpPr>
          <p:spPr>
            <a:xfrm>
              <a:off x="2959398" y="1572557"/>
              <a:ext cx="2310802" cy="325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525" tIns="49525" rIns="49525" bIns="4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Times New Roman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Post-Synthesis Simulation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20"/>
            <p:cNvSpPr/>
            <p:nvPr/>
          </p:nvSpPr>
          <p:spPr>
            <a:xfrm rot="5400000">
              <a:off x="4049878" y="1917321"/>
              <a:ext cx="129843" cy="155811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AAB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20"/>
            <p:cNvSpPr txBox="1"/>
            <p:nvPr/>
          </p:nvSpPr>
          <p:spPr>
            <a:xfrm>
              <a:off x="4068057" y="1930305"/>
              <a:ext cx="93487" cy="908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20"/>
            <p:cNvSpPr/>
            <p:nvPr/>
          </p:nvSpPr>
          <p:spPr>
            <a:xfrm>
              <a:off x="2964118" y="2081789"/>
              <a:ext cx="2301362" cy="346248"/>
            </a:xfrm>
            <a:prstGeom prst="roundRect">
              <a:avLst>
                <a:gd name="adj" fmla="val 10000"/>
              </a:avLst>
            </a:prstGeom>
            <a:solidFill>
              <a:srgbClr val="252C35"/>
            </a:solidFill>
            <a:ln w="15875" cap="flat" cmpd="sng">
              <a:solidFill>
                <a:srgbClr val="7B96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20"/>
            <p:cNvSpPr txBox="1"/>
            <p:nvPr/>
          </p:nvSpPr>
          <p:spPr>
            <a:xfrm>
              <a:off x="2974259" y="2091930"/>
              <a:ext cx="2281080" cy="325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525" tIns="49525" rIns="49525" bIns="4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Times New Roman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Floor Planning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20"/>
            <p:cNvSpPr/>
            <p:nvPr/>
          </p:nvSpPr>
          <p:spPr>
            <a:xfrm rot="5400000">
              <a:off x="4049878" y="2436694"/>
              <a:ext cx="129843" cy="155811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AAB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20"/>
            <p:cNvSpPr txBox="1"/>
            <p:nvPr/>
          </p:nvSpPr>
          <p:spPr>
            <a:xfrm>
              <a:off x="4068057" y="2449678"/>
              <a:ext cx="93487" cy="908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20"/>
            <p:cNvSpPr/>
            <p:nvPr/>
          </p:nvSpPr>
          <p:spPr>
            <a:xfrm>
              <a:off x="2909799" y="2601162"/>
              <a:ext cx="2410001" cy="346248"/>
            </a:xfrm>
            <a:prstGeom prst="roundRect">
              <a:avLst>
                <a:gd name="adj" fmla="val 10000"/>
              </a:avLst>
            </a:prstGeom>
            <a:solidFill>
              <a:srgbClr val="252C35"/>
            </a:solidFill>
            <a:ln w="15875" cap="flat" cmpd="sng">
              <a:solidFill>
                <a:srgbClr val="7B96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20"/>
            <p:cNvSpPr txBox="1"/>
            <p:nvPr/>
          </p:nvSpPr>
          <p:spPr>
            <a:xfrm>
              <a:off x="2919940" y="2611303"/>
              <a:ext cx="2389719" cy="325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525" tIns="49525" rIns="49525" bIns="4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Times New Roman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Placement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20"/>
            <p:cNvSpPr/>
            <p:nvPr/>
          </p:nvSpPr>
          <p:spPr>
            <a:xfrm rot="5400000">
              <a:off x="4049878" y="2956067"/>
              <a:ext cx="129843" cy="155811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AAB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20"/>
            <p:cNvSpPr txBox="1"/>
            <p:nvPr/>
          </p:nvSpPr>
          <p:spPr>
            <a:xfrm>
              <a:off x="4068057" y="2969051"/>
              <a:ext cx="93487" cy="908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20"/>
            <p:cNvSpPr/>
            <p:nvPr/>
          </p:nvSpPr>
          <p:spPr>
            <a:xfrm>
              <a:off x="2938752" y="3120535"/>
              <a:ext cx="2352094" cy="346248"/>
            </a:xfrm>
            <a:prstGeom prst="roundRect">
              <a:avLst>
                <a:gd name="adj" fmla="val 10000"/>
              </a:avLst>
            </a:prstGeom>
            <a:solidFill>
              <a:srgbClr val="252C35"/>
            </a:solidFill>
            <a:ln w="15875" cap="flat" cmpd="sng">
              <a:solidFill>
                <a:srgbClr val="7B96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20"/>
            <p:cNvSpPr txBox="1"/>
            <p:nvPr/>
          </p:nvSpPr>
          <p:spPr>
            <a:xfrm>
              <a:off x="2948893" y="3130676"/>
              <a:ext cx="2331812" cy="325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525" tIns="49525" rIns="49525" bIns="4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Times New Roman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Routing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20"/>
            <p:cNvSpPr/>
            <p:nvPr/>
          </p:nvSpPr>
          <p:spPr>
            <a:xfrm rot="5400000">
              <a:off x="4049878" y="3475439"/>
              <a:ext cx="129843" cy="155811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AAB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20"/>
            <p:cNvSpPr txBox="1"/>
            <p:nvPr/>
          </p:nvSpPr>
          <p:spPr>
            <a:xfrm>
              <a:off x="4068057" y="3488423"/>
              <a:ext cx="93487" cy="908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20"/>
            <p:cNvSpPr/>
            <p:nvPr/>
          </p:nvSpPr>
          <p:spPr>
            <a:xfrm>
              <a:off x="2938745" y="3639908"/>
              <a:ext cx="2352108" cy="346248"/>
            </a:xfrm>
            <a:prstGeom prst="roundRect">
              <a:avLst>
                <a:gd name="adj" fmla="val 10000"/>
              </a:avLst>
            </a:prstGeom>
            <a:solidFill>
              <a:srgbClr val="252C35"/>
            </a:solidFill>
            <a:ln w="15875" cap="flat" cmpd="sng">
              <a:solidFill>
                <a:srgbClr val="7B96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20"/>
            <p:cNvSpPr txBox="1"/>
            <p:nvPr/>
          </p:nvSpPr>
          <p:spPr>
            <a:xfrm>
              <a:off x="2948886" y="3650049"/>
              <a:ext cx="2331826" cy="325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525" tIns="49525" rIns="49525" bIns="4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Times New Roman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DRC / LVS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20"/>
            <p:cNvSpPr/>
            <p:nvPr/>
          </p:nvSpPr>
          <p:spPr>
            <a:xfrm rot="5400000">
              <a:off x="4049878" y="3994812"/>
              <a:ext cx="129843" cy="155811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AAB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20"/>
            <p:cNvSpPr txBox="1"/>
            <p:nvPr/>
          </p:nvSpPr>
          <p:spPr>
            <a:xfrm>
              <a:off x="4068057" y="4007796"/>
              <a:ext cx="93487" cy="908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20"/>
            <p:cNvSpPr/>
            <p:nvPr/>
          </p:nvSpPr>
          <p:spPr>
            <a:xfrm>
              <a:off x="2905734" y="4159281"/>
              <a:ext cx="2418131" cy="346248"/>
            </a:xfrm>
            <a:prstGeom prst="roundRect">
              <a:avLst>
                <a:gd name="adj" fmla="val 10000"/>
              </a:avLst>
            </a:prstGeom>
            <a:solidFill>
              <a:srgbClr val="252C35"/>
            </a:solidFill>
            <a:ln w="15875" cap="flat" cmpd="sng">
              <a:solidFill>
                <a:srgbClr val="7B96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20"/>
            <p:cNvSpPr txBox="1"/>
            <p:nvPr/>
          </p:nvSpPr>
          <p:spPr>
            <a:xfrm>
              <a:off x="2915875" y="4169422"/>
              <a:ext cx="2397849" cy="325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525" tIns="49525" rIns="49525" bIns="4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Times New Roman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Post- Route Simulation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20"/>
            <p:cNvSpPr/>
            <p:nvPr/>
          </p:nvSpPr>
          <p:spPr>
            <a:xfrm rot="5400000">
              <a:off x="4049878" y="4514185"/>
              <a:ext cx="129843" cy="155811"/>
            </a:xfrm>
            <a:prstGeom prst="rightArrow">
              <a:avLst>
                <a:gd name="adj1" fmla="val 60000"/>
                <a:gd name="adj2" fmla="val 50000"/>
              </a:avLst>
            </a:prstGeom>
            <a:solidFill>
              <a:srgbClr val="AAABA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20"/>
            <p:cNvSpPr txBox="1"/>
            <p:nvPr/>
          </p:nvSpPr>
          <p:spPr>
            <a:xfrm>
              <a:off x="4068057" y="4527169"/>
              <a:ext cx="93487" cy="908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20"/>
            <p:cNvSpPr/>
            <p:nvPr/>
          </p:nvSpPr>
          <p:spPr>
            <a:xfrm>
              <a:off x="2905734" y="4678653"/>
              <a:ext cx="2418131" cy="346248"/>
            </a:xfrm>
            <a:prstGeom prst="roundRect">
              <a:avLst>
                <a:gd name="adj" fmla="val 10000"/>
              </a:avLst>
            </a:prstGeom>
            <a:solidFill>
              <a:srgbClr val="252C35"/>
            </a:solidFill>
            <a:ln w="15875" cap="flat" cmpd="sng">
              <a:solidFill>
                <a:srgbClr val="7B96A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20"/>
            <p:cNvSpPr txBox="1"/>
            <p:nvPr/>
          </p:nvSpPr>
          <p:spPr>
            <a:xfrm>
              <a:off x="2915875" y="4688794"/>
              <a:ext cx="2397849" cy="325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9525" tIns="49525" rIns="49525" bIns="4952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300"/>
                <a:buFont typeface="Times New Roman"/>
                <a:buNone/>
              </a:pPr>
              <a:r>
                <a:rPr lang="en-US" sz="1300" b="0" i="0" u="none" strike="noStrike" cap="non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Fabrication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8" name="Google Shape;288;p20"/>
          <p:cNvSpPr/>
          <p:nvPr/>
        </p:nvSpPr>
        <p:spPr>
          <a:xfrm>
            <a:off x="2438400" y="2771775"/>
            <a:ext cx="1524000" cy="304800"/>
          </a:xfrm>
          <a:prstGeom prst="rect">
            <a:avLst/>
          </a:prstGeom>
          <a:gradFill>
            <a:gsLst>
              <a:gs pos="0">
                <a:srgbClr val="BDBDBD"/>
              </a:gs>
              <a:gs pos="100000">
                <a:srgbClr val="7D7D7D"/>
              </a:gs>
            </a:gsLst>
            <a:lin ang="5040000" scaled="0"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Leonardo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89" name="Google Shape;289;p20"/>
          <p:cNvCxnSpPr/>
          <p:nvPr/>
        </p:nvCxnSpPr>
        <p:spPr>
          <a:xfrm rot="10800000">
            <a:off x="7239000" y="1828800"/>
            <a:ext cx="1066800" cy="1600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90" name="Google Shape;290;p20"/>
          <p:cNvSpPr/>
          <p:nvPr/>
        </p:nvSpPr>
        <p:spPr>
          <a:xfrm>
            <a:off x="8305800" y="3276600"/>
            <a:ext cx="1524000" cy="304800"/>
          </a:xfrm>
          <a:prstGeom prst="rect">
            <a:avLst/>
          </a:prstGeom>
          <a:gradFill>
            <a:gsLst>
              <a:gs pos="0">
                <a:srgbClr val="BDBDBD"/>
              </a:gs>
              <a:gs pos="100000">
                <a:srgbClr val="7D7D7D"/>
              </a:gs>
            </a:gsLst>
            <a:lin ang="5040000" scaled="0"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Modelsim</a:t>
            </a:r>
            <a:endParaRPr sz="1400" b="0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91" name="Google Shape;291;p20"/>
          <p:cNvCxnSpPr/>
          <p:nvPr/>
        </p:nvCxnSpPr>
        <p:spPr>
          <a:xfrm rot="10800000">
            <a:off x="7239000" y="3429000"/>
            <a:ext cx="1066800" cy="1588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92" name="Google Shape;292;p20"/>
          <p:cNvCxnSpPr>
            <a:stCxn id="290" idx="1"/>
          </p:cNvCxnSpPr>
          <p:nvPr/>
        </p:nvCxnSpPr>
        <p:spPr>
          <a:xfrm flipH="1">
            <a:off x="7315200" y="3429000"/>
            <a:ext cx="990600" cy="2590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93" name="Google Shape;293;p20"/>
          <p:cNvCxnSpPr>
            <a:stCxn id="290" idx="1"/>
          </p:cNvCxnSpPr>
          <p:nvPr/>
        </p:nvCxnSpPr>
        <p:spPr>
          <a:xfrm rot="10800000">
            <a:off x="7239000" y="2362200"/>
            <a:ext cx="1066800" cy="1066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94" name="Google Shape;294;p20"/>
          <p:cNvCxnSpPr>
            <a:stCxn id="288" idx="3"/>
          </p:cNvCxnSpPr>
          <p:nvPr/>
        </p:nvCxnSpPr>
        <p:spPr>
          <a:xfrm>
            <a:off x="3962400" y="2924175"/>
            <a:ext cx="990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95" name="Google Shape;295;p20"/>
          <p:cNvCxnSpPr/>
          <p:nvPr/>
        </p:nvCxnSpPr>
        <p:spPr>
          <a:xfrm rot="10800000" flipH="1">
            <a:off x="3962400" y="3962401"/>
            <a:ext cx="990600" cy="25717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96" name="Google Shape;296;p20"/>
          <p:cNvCxnSpPr/>
          <p:nvPr/>
        </p:nvCxnSpPr>
        <p:spPr>
          <a:xfrm>
            <a:off x="3962400" y="4219576"/>
            <a:ext cx="914400" cy="20002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97" name="Google Shape;297;p20"/>
          <p:cNvCxnSpPr/>
          <p:nvPr/>
        </p:nvCxnSpPr>
        <p:spPr>
          <a:xfrm>
            <a:off x="3962400" y="4219576"/>
            <a:ext cx="990600" cy="733425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cxnSp>
        <p:nvCxnSpPr>
          <p:cNvPr id="298" name="Google Shape;298;p20"/>
          <p:cNvCxnSpPr/>
          <p:nvPr/>
        </p:nvCxnSpPr>
        <p:spPr>
          <a:xfrm>
            <a:off x="3962400" y="5486400"/>
            <a:ext cx="9906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stealth" w="med" len="med"/>
          </a:ln>
        </p:spPr>
      </p:cxnSp>
      <p:sp>
        <p:nvSpPr>
          <p:cNvPr id="299" name="Google Shape;299;p20"/>
          <p:cNvSpPr/>
          <p:nvPr/>
        </p:nvSpPr>
        <p:spPr>
          <a:xfrm>
            <a:off x="4419600" y="1676400"/>
            <a:ext cx="381000" cy="914400"/>
          </a:xfrm>
          <a:prstGeom prst="leftBrace">
            <a:avLst>
              <a:gd name="adj1" fmla="val 8333"/>
              <a:gd name="adj2" fmla="val 50000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0" name="Google Shape;300;p20"/>
          <p:cNvSpPr txBox="1"/>
          <p:nvPr/>
        </p:nvSpPr>
        <p:spPr>
          <a:xfrm>
            <a:off x="1926610" y="1944262"/>
            <a:ext cx="2319866" cy="369332"/>
          </a:xfrm>
          <a:prstGeom prst="rect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Times New Roman"/>
              <a:buNone/>
            </a:pPr>
            <a:r>
              <a:rPr lang="en-US" sz="18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Computer Architecture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0"/>
          <p:cNvSpPr/>
          <p:nvPr/>
        </p:nvSpPr>
        <p:spPr>
          <a:xfrm>
            <a:off x="2438400" y="4067175"/>
            <a:ext cx="1524000" cy="304800"/>
          </a:xfrm>
          <a:prstGeom prst="rect">
            <a:avLst/>
          </a:prstGeom>
          <a:gradFill>
            <a:gsLst>
              <a:gs pos="0">
                <a:srgbClr val="BDBDBD"/>
              </a:gs>
              <a:gs pos="100000">
                <a:srgbClr val="7D7D7D"/>
              </a:gs>
            </a:gsLst>
            <a:lin ang="5040000" scaled="0"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IC Station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20"/>
          <p:cNvSpPr/>
          <p:nvPr/>
        </p:nvSpPr>
        <p:spPr>
          <a:xfrm>
            <a:off x="2438400" y="5334000"/>
            <a:ext cx="1524000" cy="304800"/>
          </a:xfrm>
          <a:prstGeom prst="rect">
            <a:avLst/>
          </a:prstGeom>
          <a:gradFill>
            <a:gsLst>
              <a:gs pos="0">
                <a:srgbClr val="BDBDBD"/>
              </a:gs>
              <a:gs pos="100000">
                <a:srgbClr val="7D7D7D"/>
              </a:gs>
            </a:gsLst>
            <a:lin ang="5040000" scaled="0"/>
          </a:gra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Calibre</a:t>
            </a:r>
            <a:endParaRPr sz="1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3" name="Google Shape;303;p20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FDCB7"/>
              </a:buClr>
              <a:buSzPts val="1400"/>
              <a:buFont typeface="Times New Roman"/>
              <a:buNone/>
            </a:pPr>
            <a:r>
              <a:rPr lang="en-US" sz="1050" b="0" i="0" u="none" strike="noStrike" cap="none">
                <a:solidFill>
                  <a:srgbClr val="DFDCB7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 TO VHDL</a:t>
            </a:r>
            <a:endParaRPr/>
          </a:p>
        </p:txBody>
      </p:sp>
      <p:sp>
        <p:nvSpPr>
          <p:cNvPr id="304" name="Google Shape;304;p20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Times New Roman"/>
              <a:buNone/>
            </a:pPr>
            <a:fld id="{00000000-1234-1234-1234-123412341234}" type="slidenum">
              <a:rPr lang="en-US" sz="1050" b="0" i="0" u="none" strike="noStrike" cap="none">
                <a:solidFill>
                  <a:srgbClr val="888888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sz="1050" b="0" i="0" u="none" strike="noStrike" cap="none">
              <a:solidFill>
                <a:srgbClr val="888888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1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/>
          </a:p>
        </p:txBody>
      </p:sp>
      <p:sp>
        <p:nvSpPr>
          <p:cNvPr id="310" name="Google Shape;310;p21"/>
          <p:cNvSpPr txBox="1">
            <a:spLocks noGrp="1"/>
          </p:cNvSpPr>
          <p:nvPr>
            <p:ph type="body" idx="1"/>
          </p:nvPr>
        </p:nvSpPr>
        <p:spPr>
          <a:xfrm>
            <a:off x="1219200" y="1905000"/>
            <a:ext cx="10210799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 VHDL and its usage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 different modeling techniques in designing digital circuits  (Dataflow ,  structural)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 the Hardware created from the VHDL code 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 Concurrent statement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Reuse previously created entity (component instantiation a.k.a port mapping)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Practice designing with VHDL</a:t>
            </a:r>
            <a:endParaRPr/>
          </a:p>
          <a:p>
            <a:pPr marL="228600" marR="0" lvl="0" indent="-38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1" name="Google Shape;311;p21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FDCB7"/>
              </a:buClr>
              <a:buSzPts val="1400"/>
              <a:buFont typeface="Arial"/>
              <a:buNone/>
            </a:pPr>
            <a:r>
              <a:rPr lang="en-US" sz="1050" b="0" i="0" u="none" strike="noStrike" cap="none">
                <a:solidFill>
                  <a:srgbClr val="DFDCB7"/>
                </a:solidFill>
                <a:latin typeface="Arial"/>
                <a:ea typeface="Arial"/>
                <a:cs typeface="Arial"/>
                <a:sym typeface="Arial"/>
              </a:rPr>
              <a:t>INTRO TO VHDL</a:t>
            </a:r>
            <a:endParaRPr/>
          </a:p>
        </p:txBody>
      </p:sp>
      <p:sp>
        <p:nvSpPr>
          <p:cNvPr id="312" name="Google Shape;312;p21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</a:pPr>
            <a:fld id="{00000000-1234-1234-1234-123412341234}" type="slidenum">
              <a:rPr lang="en-US"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05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2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VHDL?</a:t>
            </a:r>
            <a:endParaRPr/>
          </a:p>
        </p:txBody>
      </p:sp>
      <p:sp>
        <p:nvSpPr>
          <p:cNvPr id="318" name="Google Shape;318;p22"/>
          <p:cNvSpPr txBox="1"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VHSIC Hardware Description Language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VHDL is a programming language that allows one to model and develop complex digital systems.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-38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9" name="Google Shape;319;p22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FDCB7"/>
              </a:buClr>
              <a:buSzPts val="1400"/>
              <a:buFont typeface="Arial"/>
              <a:buNone/>
            </a:pPr>
            <a:r>
              <a:rPr lang="en-US" sz="1050" b="0" i="0" u="none" strike="noStrike" cap="none">
                <a:solidFill>
                  <a:srgbClr val="DFDCB7"/>
                </a:solidFill>
                <a:latin typeface="Arial"/>
                <a:ea typeface="Arial"/>
                <a:cs typeface="Arial"/>
                <a:sym typeface="Arial"/>
              </a:rPr>
              <a:t>INTRO TO VHDL</a:t>
            </a:r>
            <a:endParaRPr/>
          </a:p>
        </p:txBody>
      </p:sp>
      <p:sp>
        <p:nvSpPr>
          <p:cNvPr id="320" name="Google Shape;320;p22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</a:pPr>
            <a:fld id="{00000000-1234-1234-1234-123412341234}" type="slidenum">
              <a:rPr lang="en-US"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05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3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VHDL?</a:t>
            </a:r>
            <a:endParaRPr/>
          </a:p>
        </p:txBody>
      </p:sp>
      <p:sp>
        <p:nvSpPr>
          <p:cNvPr id="326" name="Google Shape;326;p23"/>
          <p:cNvSpPr txBox="1"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Requirements specification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Documentation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Testing using simulation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Formal verification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Synthesis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Class assignments ☺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7" name="Google Shape;327;p23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FDCB7"/>
              </a:buClr>
              <a:buSzPts val="1400"/>
              <a:buFont typeface="Arial"/>
              <a:buNone/>
            </a:pPr>
            <a:r>
              <a:rPr lang="en-US" sz="1050" b="0" i="0" u="none" strike="noStrike" cap="none">
                <a:solidFill>
                  <a:srgbClr val="DFDCB7"/>
                </a:solidFill>
                <a:latin typeface="Arial"/>
                <a:ea typeface="Arial"/>
                <a:cs typeface="Arial"/>
                <a:sym typeface="Arial"/>
              </a:rPr>
              <a:t>INTRO TO VHDL</a:t>
            </a:r>
            <a:endParaRPr/>
          </a:p>
        </p:txBody>
      </p:sp>
      <p:sp>
        <p:nvSpPr>
          <p:cNvPr id="328" name="Google Shape;328;p23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</a:pPr>
            <a:fld id="{00000000-1234-1234-1234-123412341234}" type="slidenum">
              <a:rPr lang="en-US"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05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4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HW DESIGNER GOAL</a:t>
            </a:r>
            <a:endParaRPr/>
          </a:p>
        </p:txBody>
      </p:sp>
      <p:sp>
        <p:nvSpPr>
          <p:cNvPr id="334" name="Google Shape;334;p24"/>
          <p:cNvSpPr txBox="1"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Most ‘reliable’ design process, with minimum cost and time.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Avoid design errors!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5" name="Google Shape;335;p24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FDCB7"/>
              </a:buClr>
              <a:buSzPts val="1400"/>
              <a:buFont typeface="Arial"/>
              <a:buNone/>
            </a:pPr>
            <a:r>
              <a:rPr lang="en-US" sz="1050" b="0" i="0" u="none" strike="noStrike" cap="none">
                <a:solidFill>
                  <a:srgbClr val="DFDCB7"/>
                </a:solidFill>
                <a:latin typeface="Arial"/>
                <a:ea typeface="Arial"/>
                <a:cs typeface="Arial"/>
                <a:sym typeface="Arial"/>
              </a:rPr>
              <a:t>INTRO TO VHDL</a:t>
            </a:r>
            <a:endParaRPr/>
          </a:p>
        </p:txBody>
      </p:sp>
      <p:sp>
        <p:nvSpPr>
          <p:cNvPr id="336" name="Google Shape;336;p24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</a:pPr>
            <a:fld id="{00000000-1234-1234-1234-123412341234}" type="slidenum">
              <a:rPr lang="en-US"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05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5"/>
          <p:cNvSpPr txBox="1"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3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VHDL is </a:t>
            </a:r>
            <a:r>
              <a:rPr lang="en-US" sz="3600" b="1" i="1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Describing Hardware</a:t>
            </a:r>
            <a:r>
              <a:rPr lang="en-US" sz="36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so every line counts and cost a lot in real world   </a:t>
            </a:r>
            <a:endParaRPr sz="3600" b="0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342" name="Google Shape;342;p25"/>
          <p:cNvSpPr txBox="1"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000"/>
              <a:buFont typeface="Arial"/>
              <a:buNone/>
            </a:pPr>
            <a:endParaRPr sz="1800" b="0" i="0" u="none" strike="noStrike" cap="none">
              <a:solidFill>
                <a:srgbClr val="888888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343" name="Google Shape;343;p25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FDCB7"/>
              </a:buClr>
              <a:buSzPts val="1400"/>
              <a:buFont typeface="Arial"/>
              <a:buNone/>
            </a:pPr>
            <a:r>
              <a:rPr lang="en-US" sz="1050" b="0" i="0" u="none" strike="noStrike" cap="none">
                <a:solidFill>
                  <a:srgbClr val="DFDCB7"/>
                </a:solidFill>
                <a:latin typeface="Arial"/>
                <a:ea typeface="Arial"/>
                <a:cs typeface="Arial"/>
                <a:sym typeface="Arial"/>
              </a:rPr>
              <a:t>INTRO TO VHDL</a:t>
            </a:r>
            <a:endParaRPr/>
          </a:p>
        </p:txBody>
      </p:sp>
      <p:sp>
        <p:nvSpPr>
          <p:cNvPr id="344" name="Google Shape;344;p25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</a:pPr>
            <a:fld id="{00000000-1234-1234-1234-123412341234}" type="slidenum">
              <a:rPr lang="en-US"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05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6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VHDL LANGUAGE: VARIABLES </a:t>
            </a:r>
            <a:endParaRPr/>
          </a:p>
        </p:txBody>
      </p:sp>
      <p:sp>
        <p:nvSpPr>
          <p:cNvPr id="350" name="Google Shape;350;p26"/>
          <p:cNvSpPr txBox="1"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Variables are Wires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 are “&lt;=” or “:=” instead of “=”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39762" marR="0" lvl="1" indent="-233362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Arial"/>
              <a:buNone/>
            </a:pPr>
            <a:r>
              <a:rPr lang="en-US" sz="24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&lt;= C and D;</a:t>
            </a:r>
            <a:endParaRPr/>
          </a:p>
          <a:p>
            <a:pPr marL="639762" marR="0" lvl="1" indent="-233362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Arial"/>
              <a:buNone/>
            </a:pPr>
            <a:endParaRPr sz="2400" b="0" i="0" u="none" strike="noStrike" cap="none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39762" marR="0" lvl="1" indent="-233362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accent2"/>
              </a:buClr>
              <a:buSzPts val="2500"/>
              <a:buFont typeface="Arial"/>
              <a:buNone/>
            </a:pPr>
            <a:r>
              <a:rPr lang="en-US" sz="2400" b="0" i="0" u="none" strike="noStrike" cap="none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 &lt;= E nor F;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351" name="Google Shape;351;p26"/>
          <p:cNvGrpSpPr/>
          <p:nvPr/>
        </p:nvGrpSpPr>
        <p:grpSpPr>
          <a:xfrm>
            <a:off x="8418514" y="2895600"/>
            <a:ext cx="1768474" cy="884237"/>
            <a:chOff x="0" y="0"/>
            <a:chExt cx="1914525" cy="884237"/>
          </a:xfrm>
        </p:grpSpPr>
        <p:cxnSp>
          <p:nvCxnSpPr>
            <p:cNvPr id="352" name="Google Shape;352;p26"/>
            <p:cNvCxnSpPr/>
            <p:nvPr/>
          </p:nvCxnSpPr>
          <p:spPr>
            <a:xfrm>
              <a:off x="1325562" y="244475"/>
              <a:ext cx="415925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sp>
          <p:nvSpPr>
            <p:cNvPr id="353" name="Google Shape;353;p26"/>
            <p:cNvSpPr txBox="1"/>
            <p:nvPr/>
          </p:nvSpPr>
          <p:spPr>
            <a:xfrm>
              <a:off x="1803400" y="134936"/>
              <a:ext cx="111125" cy="1841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200"/>
                <a:buFont typeface="Helvetica Neue"/>
                <a:buNone/>
              </a:pPr>
              <a:r>
                <a:rPr lang="en-US" sz="1200" b="0" i="1" u="none" strike="noStrike" cap="none">
                  <a:solidFill>
                    <a:srgbClr val="C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X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4" name="Google Shape;354;p26"/>
            <p:cNvSpPr/>
            <p:nvPr/>
          </p:nvSpPr>
          <p:spPr>
            <a:xfrm>
              <a:off x="715962" y="0"/>
              <a:ext cx="609599" cy="488949"/>
            </a:xfrm>
            <a:prstGeom prst="flowChartDelay">
              <a:avLst/>
            </a:prstGeom>
            <a:solidFill>
              <a:schemeClr val="hlink"/>
            </a:solidFill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Arial"/>
                <a:buNone/>
              </a:pPr>
              <a:endParaRPr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355" name="Google Shape;355;p26"/>
            <p:cNvCxnSpPr/>
            <p:nvPr/>
          </p:nvCxnSpPr>
          <p:spPr>
            <a:xfrm>
              <a:off x="195261" y="134936"/>
              <a:ext cx="5207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cxnSp>
          <p:nvCxnSpPr>
            <p:cNvPr id="356" name="Google Shape;356;p26"/>
            <p:cNvCxnSpPr/>
            <p:nvPr/>
          </p:nvCxnSpPr>
          <p:spPr>
            <a:xfrm>
              <a:off x="195261" y="363537"/>
              <a:ext cx="5207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"/>
              <a:headEnd type="none" w="sm" len="sm"/>
              <a:tailEnd type="none" w="sm" len="sm"/>
            </a:ln>
          </p:spPr>
        </p:cxnSp>
        <p:sp>
          <p:nvSpPr>
            <p:cNvPr id="357" name="Google Shape;357;p26"/>
            <p:cNvSpPr txBox="1"/>
            <p:nvPr/>
          </p:nvSpPr>
          <p:spPr>
            <a:xfrm>
              <a:off x="0" y="28575"/>
              <a:ext cx="119061" cy="1841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200"/>
                <a:buFont typeface="Helvetica Neue"/>
                <a:buNone/>
              </a:pPr>
              <a:r>
                <a:rPr lang="en-US" sz="1200" b="0" i="1" u="none" strike="noStrike" cap="none">
                  <a:solidFill>
                    <a:srgbClr val="C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8" name="Google Shape;358;p26"/>
            <p:cNvSpPr txBox="1"/>
            <p:nvPr/>
          </p:nvSpPr>
          <p:spPr>
            <a:xfrm>
              <a:off x="0" y="257175"/>
              <a:ext cx="119061" cy="1841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200"/>
                <a:buFont typeface="Helvetica Neue"/>
                <a:buNone/>
              </a:pPr>
              <a:r>
                <a:rPr lang="en-US" sz="1200" b="0" i="1" u="none" strike="noStrike" cap="none">
                  <a:solidFill>
                    <a:srgbClr val="C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9" name="Google Shape;359;p26"/>
            <p:cNvSpPr txBox="1"/>
            <p:nvPr/>
          </p:nvSpPr>
          <p:spPr>
            <a:xfrm>
              <a:off x="685800" y="488950"/>
              <a:ext cx="919162" cy="3952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400"/>
                <a:buFont typeface="Times New Roman"/>
                <a:buNone/>
              </a:pPr>
              <a:r>
                <a:rPr lang="en-US" sz="2400" b="1" i="1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AND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360" name="Google Shape;360;p26"/>
          <p:cNvGrpSpPr/>
          <p:nvPr/>
        </p:nvGrpSpPr>
        <p:grpSpPr>
          <a:xfrm>
            <a:off x="8467726" y="4549774"/>
            <a:ext cx="2657473" cy="841374"/>
            <a:chOff x="0" y="0"/>
            <a:chExt cx="2878135" cy="841374"/>
          </a:xfrm>
        </p:grpSpPr>
        <p:sp>
          <p:nvSpPr>
            <p:cNvPr id="361" name="Google Shape;361;p26"/>
            <p:cNvSpPr txBox="1"/>
            <p:nvPr/>
          </p:nvSpPr>
          <p:spPr>
            <a:xfrm>
              <a:off x="0" y="76200"/>
              <a:ext cx="130175" cy="2158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400"/>
                <a:buFont typeface="Helvetica Neue"/>
                <a:buNone/>
              </a:pPr>
              <a:r>
                <a:rPr lang="en-US" sz="1400" b="1" i="1" u="none" strike="noStrike" cap="none">
                  <a:solidFill>
                    <a:srgbClr val="C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2" name="Google Shape;362;p26"/>
            <p:cNvSpPr txBox="1"/>
            <p:nvPr/>
          </p:nvSpPr>
          <p:spPr>
            <a:xfrm>
              <a:off x="0" y="457200"/>
              <a:ext cx="117474" cy="2158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400"/>
                <a:buFont typeface="Helvetica Neue"/>
                <a:buNone/>
              </a:pPr>
              <a:r>
                <a:rPr lang="en-US" sz="1400" b="1" i="1" u="none" strike="noStrike" cap="none">
                  <a:solidFill>
                    <a:srgbClr val="C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F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3" name="Google Shape;363;p26"/>
            <p:cNvSpPr txBox="1"/>
            <p:nvPr/>
          </p:nvSpPr>
          <p:spPr>
            <a:xfrm>
              <a:off x="1643061" y="446087"/>
              <a:ext cx="1235074" cy="3952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0475" tIns="44450" rIns="90475" bIns="4445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400"/>
                <a:buFont typeface="Times New Roman"/>
                <a:buNone/>
              </a:pPr>
              <a:r>
                <a:rPr lang="en-US" sz="2400" b="1" i="1" u="none" strike="noStrike" cap="none">
                  <a:solidFill>
                    <a:srgbClr val="C00000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NOR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364" name="Google Shape;364;p26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28600" y="0"/>
              <a:ext cx="1384299" cy="711200"/>
            </a:xfrm>
            <a:prstGeom prst="rect">
              <a:avLst/>
            </a:prstGeom>
            <a:solidFill>
              <a:srgbClr val="6D7D76"/>
            </a:solidFill>
            <a:ln>
              <a:noFill/>
            </a:ln>
          </p:spPr>
        </p:pic>
        <p:sp>
          <p:nvSpPr>
            <p:cNvPr id="365" name="Google Shape;365;p26"/>
            <p:cNvSpPr txBox="1"/>
            <p:nvPr/>
          </p:nvSpPr>
          <p:spPr>
            <a:xfrm>
              <a:off x="1676400" y="228600"/>
              <a:ext cx="184149" cy="2158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400"/>
                <a:buFont typeface="Helvetica Neue"/>
                <a:buNone/>
              </a:pPr>
              <a:r>
                <a:rPr lang="en-US" sz="1400" b="1" i="1" u="none" strike="noStrike" cap="none">
                  <a:solidFill>
                    <a:srgbClr val="C00000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W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66" name="Google Shape;366;p26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FDCB7"/>
              </a:buClr>
              <a:buSzPts val="1400"/>
              <a:buFont typeface="Arial"/>
              <a:buNone/>
            </a:pPr>
            <a:r>
              <a:rPr lang="en-US" sz="1050" b="0" i="0" u="none" strike="noStrike" cap="none">
                <a:solidFill>
                  <a:srgbClr val="DFDCB7"/>
                </a:solidFill>
                <a:latin typeface="Arial"/>
                <a:ea typeface="Arial"/>
                <a:cs typeface="Arial"/>
                <a:sym typeface="Arial"/>
              </a:rPr>
              <a:t>INTRO TO VHDL</a:t>
            </a:r>
            <a:endParaRPr/>
          </a:p>
        </p:txBody>
      </p:sp>
      <p:sp>
        <p:nvSpPr>
          <p:cNvPr id="367" name="Google Shape;367;p26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</a:pPr>
            <a:fld id="{00000000-1234-1234-1234-123412341234}" type="slidenum">
              <a:rPr lang="en-US"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05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7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VHDL LANGUAGE: MODEL DEFINITION </a:t>
            </a:r>
            <a:endParaRPr/>
          </a:p>
        </p:txBody>
      </p:sp>
      <p:sp>
        <p:nvSpPr>
          <p:cNvPr id="373" name="Google Shape;373;p27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FDCB7"/>
              </a:buClr>
              <a:buSzPts val="1400"/>
              <a:buFont typeface="Arial"/>
              <a:buNone/>
            </a:pPr>
            <a:r>
              <a:rPr lang="en-US" sz="1050" b="0" i="0" u="none" strike="noStrike" cap="none">
                <a:solidFill>
                  <a:srgbClr val="DFDCB7"/>
                </a:solidFill>
                <a:latin typeface="Arial"/>
                <a:ea typeface="Arial"/>
                <a:cs typeface="Arial"/>
                <a:sym typeface="Arial"/>
              </a:rPr>
              <a:t>INTRO TO VHDL</a:t>
            </a:r>
            <a:endParaRPr/>
          </a:p>
        </p:txBody>
      </p:sp>
      <p:sp>
        <p:nvSpPr>
          <p:cNvPr id="374" name="Google Shape;374;p27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</a:pPr>
            <a:fld id="{00000000-1234-1234-1234-123412341234}" type="slidenum">
              <a:rPr lang="en-US"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05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5" name="Google Shape;375;p2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8523" y="1851523"/>
            <a:ext cx="3154953" cy="3154953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27"/>
          <p:cNvSpPr txBox="1"/>
          <p:nvPr/>
        </p:nvSpPr>
        <p:spPr>
          <a:xfrm>
            <a:off x="1120621" y="5582028"/>
            <a:ext cx="6280887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Images are from http://vlsiuniverse.blogspot.com.eg/2016/07/multiplexer.html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8"/>
          <p:cNvSpPr txBox="1">
            <a:spLocks noGrp="1"/>
          </p:cNvSpPr>
          <p:nvPr>
            <p:ph type="title"/>
          </p:nvPr>
        </p:nvSpPr>
        <p:spPr>
          <a:xfrm>
            <a:off x="1141412" y="618518"/>
            <a:ext cx="10440987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VHDL LANGUAGE: MODEL DEFINITION …(CONT)</a:t>
            </a:r>
            <a:endParaRPr/>
          </a:p>
        </p:txBody>
      </p:sp>
      <p:sp>
        <p:nvSpPr>
          <p:cNvPr id="382" name="Google Shape;382;p28"/>
          <p:cNvSpPr txBox="1"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Modules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Models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Entities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Components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3" name="Google Shape;383;p28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FDCB7"/>
              </a:buClr>
              <a:buSzPts val="1400"/>
              <a:buFont typeface="Arial"/>
              <a:buNone/>
            </a:pPr>
            <a:r>
              <a:rPr lang="en-US" sz="1050" b="0" i="0" u="none" strike="noStrike" cap="none">
                <a:solidFill>
                  <a:srgbClr val="DFDCB7"/>
                </a:solidFill>
                <a:latin typeface="Arial"/>
                <a:ea typeface="Arial"/>
                <a:cs typeface="Arial"/>
                <a:sym typeface="Arial"/>
              </a:rPr>
              <a:t>INTRO TO VHDL</a:t>
            </a:r>
            <a:endParaRPr/>
          </a:p>
        </p:txBody>
      </p:sp>
      <p:sp>
        <p:nvSpPr>
          <p:cNvPr id="384" name="Google Shape;384;p28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</a:pPr>
            <a:fld id="{00000000-1234-1234-1234-123412341234}" type="slidenum">
              <a:rPr lang="en-US"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05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28"/>
          <p:cNvSpPr txBox="1"/>
          <p:nvPr/>
        </p:nvSpPr>
        <p:spPr>
          <a:xfrm>
            <a:off x="3733800" y="3073400"/>
            <a:ext cx="6172200" cy="1570036"/>
          </a:xfrm>
          <a:prstGeom prst="rect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ENTITY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mux2 </a:t>
            </a:r>
            <a:r>
              <a:rPr lang="en-US" sz="24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4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PORT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 IN1,IN2,SEl	:  </a:t>
            </a:r>
            <a:r>
              <a:rPr lang="en-US" sz="24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std_logic;</a:t>
            </a:r>
            <a:b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	  OUT1        : </a:t>
            </a:r>
            <a:r>
              <a:rPr lang="en-US" sz="24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OUT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std_logic);</a:t>
            </a:r>
            <a:b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400" b="1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 ENTITY</a:t>
            </a:r>
            <a:r>
              <a:rPr lang="en-US" sz="2400" b="0" i="1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mux2;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28"/>
          <p:cNvSpPr txBox="1"/>
          <p:nvPr/>
        </p:nvSpPr>
        <p:spPr>
          <a:xfrm>
            <a:off x="4191000" y="2362200"/>
            <a:ext cx="1401762" cy="396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entity name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7" name="Google Shape;387;p28"/>
          <p:cNvCxnSpPr/>
          <p:nvPr/>
        </p:nvCxnSpPr>
        <p:spPr>
          <a:xfrm>
            <a:off x="4953000" y="2713040"/>
            <a:ext cx="304800" cy="474661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stealth" w="sm" len="sm"/>
          </a:ln>
        </p:spPr>
      </p:cxnSp>
      <p:sp>
        <p:nvSpPr>
          <p:cNvPr id="388" name="Google Shape;388;p28"/>
          <p:cNvSpPr txBox="1"/>
          <p:nvPr/>
        </p:nvSpPr>
        <p:spPr>
          <a:xfrm>
            <a:off x="6248401" y="2362200"/>
            <a:ext cx="1346199" cy="396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 names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89" name="Google Shape;389;p28"/>
          <p:cNvCxnSpPr/>
          <p:nvPr/>
        </p:nvCxnSpPr>
        <p:spPr>
          <a:xfrm flipH="1">
            <a:off x="6569076" y="2981323"/>
            <a:ext cx="76198" cy="493716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stealth" w="sm" len="sm"/>
          </a:ln>
        </p:spPr>
      </p:cxnSp>
      <p:sp>
        <p:nvSpPr>
          <p:cNvPr id="390" name="Google Shape;390;p28"/>
          <p:cNvSpPr txBox="1"/>
          <p:nvPr/>
        </p:nvSpPr>
        <p:spPr>
          <a:xfrm>
            <a:off x="8016875" y="2381250"/>
            <a:ext cx="2393950" cy="396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 mode (direction)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1" name="Google Shape;391;p28"/>
          <p:cNvCxnSpPr/>
          <p:nvPr/>
        </p:nvCxnSpPr>
        <p:spPr>
          <a:xfrm flipH="1">
            <a:off x="8093076" y="2789239"/>
            <a:ext cx="441324" cy="6858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stealth" w="sm" len="sm"/>
          </a:ln>
        </p:spPr>
      </p:cxnSp>
      <p:sp>
        <p:nvSpPr>
          <p:cNvPr id="392" name="Google Shape;392;p28"/>
          <p:cNvSpPr txBox="1"/>
          <p:nvPr/>
        </p:nvSpPr>
        <p:spPr>
          <a:xfrm>
            <a:off x="3962400" y="5029201"/>
            <a:ext cx="1741486" cy="396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reserved words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3" name="Google Shape;393;p28"/>
          <p:cNvCxnSpPr/>
          <p:nvPr/>
        </p:nvCxnSpPr>
        <p:spPr>
          <a:xfrm rot="10800000" flipH="1">
            <a:off x="4892676" y="4541839"/>
            <a:ext cx="212725" cy="5334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stealth" w="sm" len="sm"/>
          </a:ln>
        </p:spPr>
      </p:cxnSp>
      <p:cxnSp>
        <p:nvCxnSpPr>
          <p:cNvPr id="394" name="Google Shape;394;p28"/>
          <p:cNvCxnSpPr/>
          <p:nvPr/>
        </p:nvCxnSpPr>
        <p:spPr>
          <a:xfrm rot="10800000" flipH="1">
            <a:off x="9251950" y="4237039"/>
            <a:ext cx="381000" cy="14478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stealth" w="sm" len="sm"/>
          </a:ln>
        </p:spPr>
      </p:cxnSp>
      <p:sp>
        <p:nvSpPr>
          <p:cNvPr id="395" name="Google Shape;395;p28"/>
          <p:cNvSpPr txBox="1"/>
          <p:nvPr/>
        </p:nvSpPr>
        <p:spPr>
          <a:xfrm>
            <a:off x="8458200" y="5761039"/>
            <a:ext cx="1555750" cy="396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punctuation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28"/>
          <p:cNvSpPr txBox="1"/>
          <p:nvPr/>
        </p:nvSpPr>
        <p:spPr>
          <a:xfrm>
            <a:off x="8077201" y="5041902"/>
            <a:ext cx="1092199" cy="396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075" tIns="46025" rIns="92075" bIns="460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 type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7" name="Google Shape;397;p28"/>
          <p:cNvCxnSpPr/>
          <p:nvPr/>
        </p:nvCxnSpPr>
        <p:spPr>
          <a:xfrm rot="10800000" flipH="1">
            <a:off x="8502650" y="4267201"/>
            <a:ext cx="260350" cy="778669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stealth" w="sm" len="sm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9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324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VHDL LANGUAGE: MODEL IMPLEMENTATION</a:t>
            </a:r>
            <a:br>
              <a:rPr lang="en-US" sz="324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240" b="0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4" name="Google Shape;404;p29"/>
          <p:cNvSpPr txBox="1"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arch1 </a:t>
            </a: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mux2 </a:t>
            </a: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endParaRPr/>
          </a:p>
          <a:p>
            <a:pPr marL="342900" marR="0" lvl="0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BEGIN</a:t>
            </a:r>
            <a:endParaRPr/>
          </a:p>
          <a:p>
            <a:pPr marL="342900" marR="0" lvl="0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b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out1 &lt;= (in1 and (not Sel)) </a:t>
            </a:r>
            <a:endParaRPr/>
          </a:p>
          <a:p>
            <a:pPr marL="342900" marR="0" lvl="0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or </a:t>
            </a:r>
            <a:endParaRPr/>
          </a:p>
          <a:p>
            <a:pPr marL="342900" marR="0" lvl="0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(in2 and Sel);</a:t>
            </a:r>
            <a:endParaRPr/>
          </a:p>
          <a:p>
            <a:pPr marL="342900" marR="0" lvl="0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286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</a:t>
            </a:r>
            <a:r>
              <a:rPr lang="en-US"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arch1;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405" name="Google Shape;405;p29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FDCB7"/>
              </a:buClr>
              <a:buSzPts val="1400"/>
              <a:buFont typeface="Arial"/>
              <a:buNone/>
            </a:pPr>
            <a:r>
              <a:rPr lang="en-US" sz="1050" b="0" i="0" u="none" strike="noStrike" cap="none">
                <a:solidFill>
                  <a:srgbClr val="DFDCB7"/>
                </a:solidFill>
                <a:latin typeface="Arial"/>
                <a:ea typeface="Arial"/>
                <a:cs typeface="Arial"/>
                <a:sym typeface="Arial"/>
              </a:rPr>
              <a:t>INTRO TO VHDL</a:t>
            </a:r>
            <a:endParaRPr/>
          </a:p>
        </p:txBody>
      </p:sp>
      <p:sp>
        <p:nvSpPr>
          <p:cNvPr id="406" name="Google Shape;406;p29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</a:pPr>
            <a:fld id="{00000000-1234-1234-1234-123412341234}" type="slidenum">
              <a:rPr lang="en-US"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05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7" name="Google Shape;407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43600" y="2567297"/>
            <a:ext cx="6119390" cy="2789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0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LET’S MAKE A MUX 4X1</a:t>
            </a:r>
            <a:endParaRPr/>
          </a:p>
        </p:txBody>
      </p:sp>
      <p:sp>
        <p:nvSpPr>
          <p:cNvPr id="413" name="Google Shape;413;p30"/>
          <p:cNvSpPr txBox="1"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381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414" name="Google Shape;414;p30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FDCB7"/>
              </a:buClr>
              <a:buSzPts val="1400"/>
              <a:buFont typeface="Arial"/>
              <a:buNone/>
            </a:pPr>
            <a:r>
              <a:rPr lang="en-US" sz="1050" b="0" i="0" u="none" strike="noStrike" cap="none">
                <a:solidFill>
                  <a:srgbClr val="DFDCB7"/>
                </a:solidFill>
                <a:latin typeface="Arial"/>
                <a:ea typeface="Arial"/>
                <a:cs typeface="Arial"/>
                <a:sym typeface="Arial"/>
              </a:rPr>
              <a:t>INTRO TO VHDL</a:t>
            </a:r>
            <a:endParaRPr/>
          </a:p>
        </p:txBody>
      </p:sp>
      <p:sp>
        <p:nvSpPr>
          <p:cNvPr id="415" name="Google Shape;415;p30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</a:pPr>
            <a:fld id="{00000000-1234-1234-1234-123412341234}" type="slidenum">
              <a:rPr lang="en-US"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05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16" name="Google Shape;416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2000" y="1752600"/>
            <a:ext cx="3193057" cy="4922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1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MUX 4X1</a:t>
            </a:r>
            <a:endParaRPr/>
          </a:p>
        </p:txBody>
      </p:sp>
      <p:sp>
        <p:nvSpPr>
          <p:cNvPr id="422" name="Google Shape;422;p31"/>
          <p:cNvSpPr txBox="1"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2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ENTITY</a:t>
            </a:r>
            <a:r>
              <a:rPr lang="en-US" sz="2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mux4 </a:t>
            </a:r>
            <a:r>
              <a:rPr lang="en-US" sz="2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2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</a:t>
            </a:r>
            <a:r>
              <a:rPr lang="en-US" sz="2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 </a:t>
            </a: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in0,in1,in2,in3: IN std_logic;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sel : IN std_logic_vector (1 DOWNTO 0);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out1: OUT std_logic);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2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</a:t>
            </a:r>
            <a:r>
              <a:rPr lang="en-US" sz="28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mux4;</a:t>
            </a:r>
            <a:endParaRPr/>
          </a:p>
          <a:p>
            <a:pPr marL="228600" marR="0" lvl="0" indent="-635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rial"/>
              <a:buNone/>
            </a:pPr>
            <a:endParaRPr sz="280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-38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423" name="Google Shape;423;p31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FDCB7"/>
              </a:buClr>
              <a:buSzPts val="1400"/>
              <a:buFont typeface="Arial"/>
              <a:buNone/>
            </a:pPr>
            <a:r>
              <a:rPr lang="en-US" sz="1050" b="0" i="0" u="none" strike="noStrike" cap="none">
                <a:solidFill>
                  <a:srgbClr val="DFDCB7"/>
                </a:solidFill>
                <a:latin typeface="Arial"/>
                <a:ea typeface="Arial"/>
                <a:cs typeface="Arial"/>
                <a:sym typeface="Arial"/>
              </a:rPr>
              <a:t>INTRO TO VHDL</a:t>
            </a:r>
            <a:endParaRPr/>
          </a:p>
        </p:txBody>
      </p:sp>
      <p:sp>
        <p:nvSpPr>
          <p:cNvPr id="424" name="Google Shape;424;p31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</a:pPr>
            <a:fld id="{00000000-1234-1234-1234-123412341234}" type="slidenum">
              <a:rPr lang="en-US"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05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5" name="Google Shape;425;p3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29600" y="1357803"/>
            <a:ext cx="3193057" cy="4922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2"/>
          <p:cNvSpPr txBox="1">
            <a:spLocks noGrp="1"/>
          </p:cNvSpPr>
          <p:nvPr>
            <p:ph type="title"/>
          </p:nvPr>
        </p:nvSpPr>
        <p:spPr>
          <a:xfrm>
            <a:off x="914400" y="618518"/>
            <a:ext cx="10133011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VHDL LANGUAGE: MODEL IMPLEMENTATION</a:t>
            </a:r>
            <a:endParaRPr/>
          </a:p>
        </p:txBody>
      </p:sp>
      <p:sp>
        <p:nvSpPr>
          <p:cNvPr id="432" name="Google Shape;432;p32"/>
          <p:cNvSpPr txBox="1">
            <a:spLocks noGrp="1"/>
          </p:cNvSpPr>
          <p:nvPr>
            <p:ph type="body" idx="1"/>
          </p:nvPr>
        </p:nvSpPr>
        <p:spPr>
          <a:xfrm>
            <a:off x="1141412" y="1905000"/>
            <a:ext cx="9905999" cy="4419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75"/>
              <a:buFont typeface="Arial"/>
              <a:buChar char="•"/>
            </a:pPr>
            <a:r>
              <a:rPr lang="en-US" sz="222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Implementation is called Architecture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38"/>
              <a:buFont typeface="Arial"/>
              <a:buChar char="•"/>
            </a:pPr>
            <a:r>
              <a:rPr lang="en-US" sz="259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 of Modeling: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75"/>
              <a:buFont typeface="Arial"/>
              <a:buChar char="•"/>
            </a:pPr>
            <a:r>
              <a:rPr lang="en-US" sz="222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Dataflow</a:t>
            </a:r>
            <a:endParaRPr/>
          </a:p>
          <a:p>
            <a:pPr marL="1143000" marR="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13"/>
              <a:buFont typeface="Arial"/>
              <a:buChar char="•"/>
            </a:pP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Describes the flow of data within a component/system.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75"/>
              <a:buFont typeface="Arial"/>
              <a:buChar char="•"/>
            </a:pPr>
            <a:r>
              <a:rPr lang="en-US" sz="222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Structural</a:t>
            </a:r>
            <a:endParaRPr/>
          </a:p>
          <a:p>
            <a:pPr marL="1143000" marR="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13"/>
              <a:buFont typeface="Arial"/>
              <a:buChar char="•"/>
            </a:pP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Describes the component by the interconnection of lower level components/primitives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75"/>
              <a:buFont typeface="Arial"/>
              <a:buChar char="•"/>
            </a:pPr>
            <a:r>
              <a:rPr lang="en-US" sz="222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Behavioral </a:t>
            </a:r>
            <a:r>
              <a:rPr lang="en-US" sz="222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(next time)</a:t>
            </a:r>
            <a:endParaRPr/>
          </a:p>
          <a:p>
            <a:pPr marL="1143000" marR="0" lvl="2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313"/>
              <a:buFont typeface="Arial"/>
              <a:buChar char="•"/>
            </a:pPr>
            <a:r>
              <a:rPr lang="en-US" sz="185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Describes the functionality of a component/system usually using a process</a:t>
            </a:r>
            <a:endParaRPr/>
          </a:p>
          <a:p>
            <a:pPr marL="685800" marR="0" lvl="1" indent="-2286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775"/>
              <a:buFont typeface="Arial"/>
              <a:buChar char="•"/>
            </a:pPr>
            <a:r>
              <a:rPr lang="en-US" sz="222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Mixed of the above ways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endParaRPr sz="222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3" name="Google Shape;433;p32"/>
          <p:cNvSpPr txBox="1">
            <a:spLocks noGrp="1"/>
          </p:cNvSpPr>
          <p:nvPr>
            <p:ph type="ftr" idx="11"/>
          </p:nvPr>
        </p:nvSpPr>
        <p:spPr>
          <a:xfrm>
            <a:off x="1137695" y="6400800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FDCB7"/>
              </a:buClr>
              <a:buSzPts val="1400"/>
              <a:buFont typeface="Arial"/>
              <a:buNone/>
            </a:pPr>
            <a:r>
              <a:rPr lang="en-US" sz="1050" b="0" i="0" u="none" strike="noStrike" cap="none">
                <a:solidFill>
                  <a:srgbClr val="DFDCB7"/>
                </a:solidFill>
                <a:latin typeface="Arial"/>
                <a:ea typeface="Arial"/>
                <a:cs typeface="Arial"/>
                <a:sym typeface="Arial"/>
              </a:rPr>
              <a:t>INTRO TO VHDL</a:t>
            </a:r>
            <a:endParaRPr/>
          </a:p>
        </p:txBody>
      </p:sp>
      <p:sp>
        <p:nvSpPr>
          <p:cNvPr id="434" name="Google Shape;434;p32"/>
          <p:cNvSpPr txBox="1">
            <a:spLocks noGrp="1"/>
          </p:cNvSpPr>
          <p:nvPr>
            <p:ph type="sldNum" idx="12"/>
          </p:nvPr>
        </p:nvSpPr>
        <p:spPr>
          <a:xfrm>
            <a:off x="10363200" y="6400799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</a:pPr>
            <a:fld id="{00000000-1234-1234-1234-123412341234}" type="slidenum">
              <a:rPr lang="en-US"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05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33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324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VHDL LANGUAGE: MODEL IMPLEMENTATION</a:t>
            </a:r>
            <a:br>
              <a:rPr lang="en-US" sz="324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4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FLOW</a:t>
            </a:r>
            <a:endParaRPr/>
          </a:p>
        </p:txBody>
      </p:sp>
      <p:sp>
        <p:nvSpPr>
          <p:cNvPr id="440" name="Google Shape;440;p33"/>
          <p:cNvSpPr txBox="1"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222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r>
              <a:rPr lang="en-US" sz="22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arch1 </a:t>
            </a:r>
            <a:r>
              <a:rPr lang="en-US" sz="222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</a:t>
            </a:r>
            <a:r>
              <a:rPr lang="en-US" sz="22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mux4 </a:t>
            </a:r>
            <a:r>
              <a:rPr lang="en-US" sz="222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endParaRPr/>
          </a:p>
          <a:p>
            <a:pPr marL="342900" marR="0" lvl="0" indent="-2286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222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BEGIN</a:t>
            </a:r>
            <a:endParaRPr/>
          </a:p>
          <a:p>
            <a:pPr marL="342900" marR="0" lvl="0" indent="-2286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22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br>
              <a:rPr lang="en-US" sz="22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2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out1 &lt;=   in0 </a:t>
            </a:r>
            <a:r>
              <a:rPr lang="en-US" sz="222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</a:t>
            </a:r>
            <a:r>
              <a:rPr lang="en-US" sz="22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sel(0) = ‘0’ </a:t>
            </a:r>
            <a:r>
              <a:rPr lang="en-US" sz="222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lang="en-US" sz="22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sel(1) =‘0’</a:t>
            </a:r>
            <a:endParaRPr/>
          </a:p>
          <a:p>
            <a:pPr marL="342900" marR="0" lvl="0" indent="-228600" algn="l" rtl="0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601"/>
              <a:buFont typeface="Arial"/>
              <a:buChar char="•"/>
            </a:pPr>
            <a:r>
              <a:rPr lang="en-US" sz="18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</a:t>
            </a:r>
            <a:r>
              <a:rPr lang="en-US" sz="185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r>
              <a:rPr lang="en-US" sz="18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in1</a:t>
            </a:r>
            <a:r>
              <a:rPr lang="en-US" sz="18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5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</a:t>
            </a:r>
            <a:r>
              <a:rPr lang="en-US" sz="18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-US" sz="22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sel(0) = ‘0’ </a:t>
            </a:r>
            <a:r>
              <a:rPr lang="en-US" sz="222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lang="en-US" sz="22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sel(1) =‘1’</a:t>
            </a:r>
            <a:endParaRPr/>
          </a:p>
          <a:p>
            <a:pPr marL="342900" marR="0" lvl="0" indent="-228600" algn="l" rtl="0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601"/>
              <a:buFont typeface="Arial"/>
              <a:buChar char="•"/>
            </a:pPr>
            <a:r>
              <a:rPr lang="en-US" sz="185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ELSE </a:t>
            </a:r>
            <a:r>
              <a:rPr lang="en-US" sz="240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in2</a:t>
            </a:r>
            <a:r>
              <a:rPr lang="en-US" sz="18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85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</a:t>
            </a:r>
            <a:r>
              <a:rPr lang="en-US" sz="18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</a:t>
            </a:r>
            <a:r>
              <a:rPr lang="en-US" sz="22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sel(0) = ‘1’ </a:t>
            </a:r>
            <a:r>
              <a:rPr lang="en-US" sz="222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</a:t>
            </a:r>
            <a:r>
              <a:rPr lang="en-US" sz="22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sel(1) =‘0’</a:t>
            </a:r>
            <a:br>
              <a:rPr lang="en-US" sz="22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2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</a:t>
            </a:r>
            <a:r>
              <a:rPr lang="en-US" sz="185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</a:t>
            </a:r>
            <a:r>
              <a:rPr lang="en-US" sz="18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in3</a:t>
            </a:r>
            <a:r>
              <a:rPr lang="en-US" sz="18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/>
          </a:p>
          <a:p>
            <a:pPr marL="342900" marR="0" lvl="0" indent="-199231" algn="l" rtl="0">
              <a:lnSpc>
                <a:spcPct val="11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463"/>
              <a:buFont typeface="Arial"/>
              <a:buNone/>
            </a:pPr>
            <a:endParaRPr sz="1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marR="0" lvl="0" indent="-228600" algn="l" rtl="0">
              <a:lnSpc>
                <a:spcPct val="9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222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</a:t>
            </a:r>
            <a:r>
              <a:rPr lang="en-US" sz="22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arch1;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endParaRPr sz="22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3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FDCB7"/>
              </a:buClr>
              <a:buSzPts val="1400"/>
              <a:buFont typeface="Arial"/>
              <a:buNone/>
            </a:pPr>
            <a:r>
              <a:rPr lang="en-US" sz="1050" b="0" i="0" u="none" strike="noStrike" cap="none">
                <a:solidFill>
                  <a:srgbClr val="DFDCB7"/>
                </a:solidFill>
                <a:latin typeface="Arial"/>
                <a:ea typeface="Arial"/>
                <a:cs typeface="Arial"/>
                <a:sym typeface="Arial"/>
              </a:rPr>
              <a:t>INTRO TO VHDL</a:t>
            </a:r>
            <a:endParaRPr/>
          </a:p>
        </p:txBody>
      </p:sp>
      <p:sp>
        <p:nvSpPr>
          <p:cNvPr id="442" name="Google Shape;442;p33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</a:pPr>
            <a:fld id="{00000000-1234-1234-1234-123412341234}" type="slidenum">
              <a:rPr lang="en-US"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05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43" name="Google Shape;443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01000" y="1752600"/>
            <a:ext cx="3193057" cy="4922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4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324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VHDL LANGUAGE: MODEL IMPLEMENTATION</a:t>
            </a:r>
            <a:br>
              <a:rPr lang="en-US" sz="324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4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STRUCTURAL  </a:t>
            </a:r>
            <a:endParaRPr sz="324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9" name="Google Shape;449;p34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FDCB7"/>
              </a:buClr>
              <a:buSzPts val="1400"/>
              <a:buFont typeface="Arial"/>
              <a:buNone/>
            </a:pPr>
            <a:r>
              <a:rPr lang="en-US" sz="1050" b="0" i="0" u="none" strike="noStrike" cap="none">
                <a:solidFill>
                  <a:srgbClr val="DFDCB7"/>
                </a:solidFill>
                <a:latin typeface="Arial"/>
                <a:ea typeface="Arial"/>
                <a:cs typeface="Arial"/>
                <a:sym typeface="Arial"/>
              </a:rPr>
              <a:t>INTRO TO VHDL</a:t>
            </a:r>
            <a:endParaRPr/>
          </a:p>
        </p:txBody>
      </p:sp>
      <p:sp>
        <p:nvSpPr>
          <p:cNvPr id="450" name="Google Shape;450;p34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</a:pPr>
            <a:fld id="{00000000-1234-1234-1234-123412341234}" type="slidenum">
              <a:rPr lang="en-US"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05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34"/>
          <p:cNvSpPr txBox="1"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we Make Mux 4x1 from Mux 2x1 ?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35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324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VHDL LANGUAGE: MODEL IMPLEMENTATION</a:t>
            </a:r>
            <a:br>
              <a:rPr lang="en-US" sz="324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4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STRUCTURAL </a:t>
            </a:r>
            <a:endParaRPr sz="324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57" name="Google Shape;457;p35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4349695" y="2249488"/>
            <a:ext cx="3489435" cy="3541712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5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FDCB7"/>
              </a:buClr>
              <a:buSzPts val="1400"/>
              <a:buFont typeface="Arial"/>
              <a:buNone/>
            </a:pPr>
            <a:r>
              <a:rPr lang="en-US" sz="1050" b="0" i="0" u="none" strike="noStrike" cap="none">
                <a:solidFill>
                  <a:srgbClr val="DFDCB7"/>
                </a:solidFill>
                <a:latin typeface="Arial"/>
                <a:ea typeface="Arial"/>
                <a:cs typeface="Arial"/>
                <a:sym typeface="Arial"/>
              </a:rPr>
              <a:t>INTRO TO VHDL</a:t>
            </a:r>
            <a:endParaRPr/>
          </a:p>
        </p:txBody>
      </p:sp>
      <p:sp>
        <p:nvSpPr>
          <p:cNvPr id="459" name="Google Shape;459;p35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</a:pPr>
            <a:fld id="{00000000-1234-1234-1234-123412341234}" type="slidenum">
              <a:rPr lang="en-US"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05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6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324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VHDL LANGUAGE: MODEL IMPLEMENTATION</a:t>
            </a:r>
            <a:br>
              <a:rPr lang="en-US" sz="324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4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STRUCTURAL </a:t>
            </a:r>
            <a:endParaRPr sz="324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65" name="Google Shape;465;p3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229600" y="2336163"/>
            <a:ext cx="3489435" cy="3541712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36"/>
          <p:cNvSpPr txBox="1">
            <a:spLocks noGrp="1"/>
          </p:cNvSpPr>
          <p:nvPr>
            <p:ph type="body" idx="2"/>
          </p:nvPr>
        </p:nvSpPr>
        <p:spPr>
          <a:xfrm>
            <a:off x="2158136" y="2378869"/>
            <a:ext cx="4875211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2400" b="1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r>
              <a:rPr lang="en-US" sz="24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1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</a:t>
            </a:r>
            <a:r>
              <a:rPr lang="en-US" sz="24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</a:t>
            </a:r>
            <a:r>
              <a:rPr lang="en-US" sz="24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1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mux4 </a:t>
            </a:r>
            <a:r>
              <a:rPr lang="en-US" sz="2400" b="1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endParaRPr dirty="0"/>
          </a:p>
          <a:p>
            <a:pPr marL="0" marR="0" lvl="0" indent="0" algn="l" rtl="0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2400" b="1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</a:t>
            </a:r>
            <a:r>
              <a:rPr lang="en-US" sz="24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mux2 </a:t>
            </a:r>
            <a:r>
              <a:rPr lang="en-US" sz="2400" b="1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en-US" sz="24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24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lang="en-US" sz="2400" b="1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</a:t>
            </a:r>
            <a:r>
              <a:rPr lang="en-US" sz="2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20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IN1,IN2,SEl:  </a:t>
            </a:r>
            <a:r>
              <a:rPr lang="en-US" sz="2000" b="1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</a:t>
            </a:r>
            <a:r>
              <a:rPr lang="en-US" sz="20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1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std_logic</a:t>
            </a:r>
            <a:r>
              <a:rPr lang="en-US" sz="20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br>
              <a:rPr lang="en-US" sz="20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OUT1  : </a:t>
            </a:r>
            <a:r>
              <a:rPr lang="en-US" sz="2000" b="1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</a:t>
            </a:r>
            <a:r>
              <a:rPr lang="en-US" sz="20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0" i="1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std_logic</a:t>
            </a:r>
            <a:r>
              <a:rPr lang="en-US" sz="20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);</a:t>
            </a:r>
            <a:r>
              <a:rPr lang="en-US" sz="24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24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r>
              <a:rPr lang="en-US" sz="2400" b="1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 COMPONENT</a:t>
            </a:r>
            <a:r>
              <a:rPr lang="en-US" sz="24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;</a:t>
            </a:r>
            <a:endParaRPr dirty="0"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24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r>
              <a:rPr lang="en-US" sz="2400" b="1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SIGNAL</a:t>
            </a:r>
            <a:r>
              <a:rPr lang="en-US" sz="24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x1,x2 : </a:t>
            </a:r>
            <a:r>
              <a:rPr lang="en-US" sz="2400" b="0" i="1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std_logic</a:t>
            </a:r>
            <a:r>
              <a:rPr lang="en-US" sz="24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dirty="0"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2400" b="1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Begin</a:t>
            </a:r>
            <a:endParaRPr dirty="0"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6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FDCB7"/>
              </a:buClr>
              <a:buSzPts val="1400"/>
              <a:buFont typeface="Arial"/>
              <a:buNone/>
            </a:pPr>
            <a:r>
              <a:rPr lang="en-US" sz="1050" b="0" i="0" u="none" strike="noStrike" cap="none">
                <a:solidFill>
                  <a:srgbClr val="DFDCB7"/>
                </a:solidFill>
                <a:latin typeface="Arial"/>
                <a:ea typeface="Arial"/>
                <a:cs typeface="Arial"/>
                <a:sym typeface="Arial"/>
              </a:rPr>
              <a:t>INTRO TO VHDL</a:t>
            </a:r>
            <a:endParaRPr/>
          </a:p>
        </p:txBody>
      </p:sp>
      <p:sp>
        <p:nvSpPr>
          <p:cNvPr id="468" name="Google Shape;468;p36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</a:pPr>
            <a:fld id="{00000000-1234-1234-1234-123412341234}" type="slidenum">
              <a:rPr lang="en-US"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18</a:t>
            </a:fld>
            <a:endParaRPr sz="105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9" name="Google Shape;469;p36"/>
          <p:cNvCxnSpPr/>
          <p:nvPr/>
        </p:nvCxnSpPr>
        <p:spPr>
          <a:xfrm>
            <a:off x="2171701" y="4986337"/>
            <a:ext cx="57149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stealth" w="med" len="med"/>
          </a:ln>
        </p:spPr>
      </p:cxnSp>
      <p:sp>
        <p:nvSpPr>
          <p:cNvPr id="470" name="Google Shape;470;p36"/>
          <p:cNvSpPr txBox="1"/>
          <p:nvPr/>
        </p:nvSpPr>
        <p:spPr>
          <a:xfrm>
            <a:off x="571501" y="4724400"/>
            <a:ext cx="1600199" cy="52387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2B20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2F2B20"/>
                </a:solidFill>
                <a:latin typeface="Calibri"/>
                <a:ea typeface="Calibri"/>
                <a:cs typeface="Calibri"/>
                <a:sym typeface="Calibri"/>
              </a:rPr>
              <a:t>Signal are considered as wires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1" name="Google Shape;471;p36"/>
          <p:cNvCxnSpPr/>
          <p:nvPr/>
        </p:nvCxnSpPr>
        <p:spPr>
          <a:xfrm rot="10800000" flipH="1">
            <a:off x="4590165" y="5109266"/>
            <a:ext cx="304799" cy="8207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stealth" w="med" len="med"/>
          </a:ln>
        </p:spPr>
      </p:cxnSp>
      <p:sp>
        <p:nvSpPr>
          <p:cNvPr id="472" name="Google Shape;472;p36"/>
          <p:cNvSpPr txBox="1"/>
          <p:nvPr/>
        </p:nvSpPr>
        <p:spPr>
          <a:xfrm>
            <a:off x="3657600" y="5932876"/>
            <a:ext cx="3013074" cy="538976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2B20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2F2B20"/>
                </a:solidFill>
                <a:latin typeface="Calibri"/>
                <a:ea typeface="Calibri"/>
                <a:cs typeface="Calibri"/>
                <a:sym typeface="Calibri"/>
              </a:rPr>
              <a:t>Signal type</a:t>
            </a:r>
            <a:br>
              <a:rPr lang="en-US" sz="1400" b="0" i="1" u="none" strike="noStrike" cap="none">
                <a:solidFill>
                  <a:srgbClr val="2F2B2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b="0" i="1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Notice there is no direction for signals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3" name="Google Shape;473;p36"/>
          <p:cNvCxnSpPr/>
          <p:nvPr/>
        </p:nvCxnSpPr>
        <p:spPr>
          <a:xfrm>
            <a:off x="1905000" y="3124200"/>
            <a:ext cx="3810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stealth" w="med" len="med"/>
          </a:ln>
        </p:spPr>
      </p:cxnSp>
      <p:sp>
        <p:nvSpPr>
          <p:cNvPr id="474" name="Google Shape;474;p36"/>
          <p:cNvSpPr txBox="1"/>
          <p:nvPr/>
        </p:nvSpPr>
        <p:spPr>
          <a:xfrm>
            <a:off x="338137" y="2438400"/>
            <a:ext cx="1600199" cy="1169986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2B20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2F2B20"/>
                </a:solidFill>
                <a:latin typeface="Calibri"/>
                <a:ea typeface="Calibri"/>
                <a:cs typeface="Calibri"/>
                <a:sym typeface="Calibri"/>
              </a:rPr>
              <a:t>When we use another entity inside our architecture we call it component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7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324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VHDL LANGUAGE: MODEL IMPLEMENTATION</a:t>
            </a:r>
            <a:br>
              <a:rPr lang="en-US" sz="324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4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STRUCTURAL </a:t>
            </a:r>
            <a:endParaRPr sz="324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80" name="Google Shape;480;p37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229600" y="2336163"/>
            <a:ext cx="3489435" cy="3541712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>
            <a:spLocks noGrp="1"/>
          </p:cNvSpPr>
          <p:nvPr>
            <p:ph type="body" idx="2"/>
          </p:nvPr>
        </p:nvSpPr>
        <p:spPr>
          <a:xfrm>
            <a:off x="2158136" y="2378869"/>
            <a:ext cx="4875211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2400" b="1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r>
              <a:rPr lang="en-US" sz="24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1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</a:t>
            </a:r>
            <a:r>
              <a:rPr lang="en-US" sz="24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1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</a:t>
            </a:r>
            <a:r>
              <a:rPr lang="en-US" sz="24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 b="0" i="1" u="none" strike="noStrike" cap="none" dirty="0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mux4 </a:t>
            </a:r>
            <a:r>
              <a:rPr lang="en-US" sz="2400" b="1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endParaRPr dirty="0"/>
          </a:p>
          <a:p>
            <a:pPr marL="0" marR="0" lvl="0" indent="0" algn="l" rtl="0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2400" b="1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COMPONENT</a:t>
            </a:r>
            <a:r>
              <a:rPr lang="en-US" sz="24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mux2 </a:t>
            </a:r>
            <a:r>
              <a:rPr lang="en-US" sz="2400" b="1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</a:t>
            </a:r>
            <a:r>
              <a:rPr lang="en-US" sz="24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24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r>
              <a:rPr lang="en-US" sz="2400" b="1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</a:t>
            </a:r>
            <a:r>
              <a:rPr lang="en-US" sz="28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20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IN1,IN2,SEl:  </a:t>
            </a:r>
            <a:r>
              <a:rPr lang="en-US" sz="2000" b="1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</a:t>
            </a:r>
            <a:r>
              <a:rPr lang="en-US" sz="20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000" b="0" i="1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std_logic</a:t>
            </a:r>
            <a:r>
              <a:rPr lang="en-US" sz="20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br>
              <a:rPr lang="en-US" sz="20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0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  OUT1  : </a:t>
            </a:r>
            <a:r>
              <a:rPr lang="en-US" sz="2000" b="1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</a:t>
            </a:r>
            <a:r>
              <a:rPr lang="en-US" sz="20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000" b="0" i="1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std_logic</a:t>
            </a:r>
            <a:r>
              <a:rPr lang="en-US" sz="20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);</a:t>
            </a:r>
            <a:r>
              <a:rPr lang="en-US" sz="24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24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4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r>
              <a:rPr lang="en-US" sz="2400" b="1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 COMPONENT</a:t>
            </a:r>
            <a:r>
              <a:rPr lang="en-US" sz="24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;</a:t>
            </a:r>
            <a:endParaRPr dirty="0"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24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</a:t>
            </a:r>
            <a:r>
              <a:rPr lang="en-US" sz="2400" b="1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SIGNAL</a:t>
            </a:r>
            <a:r>
              <a:rPr lang="en-US" sz="24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x1,x2 : </a:t>
            </a:r>
            <a:r>
              <a:rPr lang="en-US" sz="2400" b="0" i="1" u="none" strike="noStrike" cap="none" dirty="0" err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std_logic</a:t>
            </a:r>
            <a:r>
              <a:rPr lang="en-US" sz="2400" b="0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endParaRPr dirty="0"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2400" b="1" i="1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Begin</a:t>
            </a:r>
            <a:endParaRPr dirty="0"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endParaRPr sz="2400" b="1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7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FDCB7"/>
              </a:buClr>
              <a:buSzPts val="1400"/>
              <a:buFont typeface="Arial"/>
              <a:buNone/>
            </a:pPr>
            <a:r>
              <a:rPr lang="en-US" sz="1050" b="0" i="0" u="none" strike="noStrike" cap="none">
                <a:solidFill>
                  <a:srgbClr val="DFDCB7"/>
                </a:solidFill>
                <a:latin typeface="Arial"/>
                <a:ea typeface="Arial"/>
                <a:cs typeface="Arial"/>
                <a:sym typeface="Arial"/>
              </a:rPr>
              <a:t>INTRO TO VHDL</a:t>
            </a:r>
            <a:endParaRPr/>
          </a:p>
        </p:txBody>
      </p:sp>
      <p:sp>
        <p:nvSpPr>
          <p:cNvPr id="483" name="Google Shape;483;p37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</a:pPr>
            <a:fld id="{00000000-1234-1234-1234-123412341234}" type="slidenum">
              <a:rPr lang="en-US"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19</a:t>
            </a:fld>
            <a:endParaRPr sz="105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4" name="Google Shape;484;p37"/>
          <p:cNvCxnSpPr/>
          <p:nvPr/>
        </p:nvCxnSpPr>
        <p:spPr>
          <a:xfrm>
            <a:off x="2171701" y="4986337"/>
            <a:ext cx="571499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stealth" w="med" len="med"/>
          </a:ln>
        </p:spPr>
      </p:cxnSp>
      <p:sp>
        <p:nvSpPr>
          <p:cNvPr id="485" name="Google Shape;485;p37"/>
          <p:cNvSpPr txBox="1"/>
          <p:nvPr/>
        </p:nvSpPr>
        <p:spPr>
          <a:xfrm>
            <a:off x="571501" y="4724400"/>
            <a:ext cx="1600199" cy="52387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2B20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2F2B20"/>
                </a:solidFill>
                <a:latin typeface="Calibri"/>
                <a:ea typeface="Calibri"/>
                <a:cs typeface="Calibri"/>
                <a:sym typeface="Calibri"/>
              </a:rPr>
              <a:t>Signal are considered as wires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6" name="Google Shape;486;p37"/>
          <p:cNvCxnSpPr/>
          <p:nvPr/>
        </p:nvCxnSpPr>
        <p:spPr>
          <a:xfrm rot="10800000" flipH="1">
            <a:off x="4590165" y="5109266"/>
            <a:ext cx="304799" cy="820737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stealth" w="med" len="med"/>
          </a:ln>
        </p:spPr>
      </p:cxnSp>
      <p:sp>
        <p:nvSpPr>
          <p:cNvPr id="487" name="Google Shape;487;p37"/>
          <p:cNvSpPr txBox="1"/>
          <p:nvPr/>
        </p:nvSpPr>
        <p:spPr>
          <a:xfrm>
            <a:off x="3657600" y="5932876"/>
            <a:ext cx="3013074" cy="538976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2B20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2F2B20"/>
                </a:solidFill>
                <a:latin typeface="Calibri"/>
                <a:ea typeface="Calibri"/>
                <a:cs typeface="Calibri"/>
                <a:sym typeface="Calibri"/>
              </a:rPr>
              <a:t>Signal type</a:t>
            </a:r>
            <a:br>
              <a:rPr lang="en-US" sz="1400" b="0" i="1" u="none" strike="noStrike" cap="none">
                <a:solidFill>
                  <a:srgbClr val="2F2B2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00" b="0" i="1" u="none" strike="noStrike" cap="non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Notice there is no direction for signals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8" name="Google Shape;488;p37"/>
          <p:cNvCxnSpPr/>
          <p:nvPr/>
        </p:nvCxnSpPr>
        <p:spPr>
          <a:xfrm>
            <a:off x="1905000" y="3124200"/>
            <a:ext cx="381000" cy="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stealth" w="med" len="med"/>
          </a:ln>
        </p:spPr>
      </p:cxnSp>
      <p:sp>
        <p:nvSpPr>
          <p:cNvPr id="489" name="Google Shape;489;p37"/>
          <p:cNvSpPr txBox="1"/>
          <p:nvPr/>
        </p:nvSpPr>
        <p:spPr>
          <a:xfrm>
            <a:off x="338137" y="2438400"/>
            <a:ext cx="1600199" cy="1169986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2B20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2F2B20"/>
                </a:solidFill>
                <a:latin typeface="Calibri"/>
                <a:ea typeface="Calibri"/>
                <a:cs typeface="Calibri"/>
                <a:sym typeface="Calibri"/>
              </a:rPr>
              <a:t>When we use another entity inside our architecture we call it component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37"/>
          <p:cNvSpPr txBox="1"/>
          <p:nvPr/>
        </p:nvSpPr>
        <p:spPr>
          <a:xfrm>
            <a:off x="7280111" y="2336162"/>
            <a:ext cx="4343400" cy="354171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2400" b="0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Till here we told our circuit that there is a component called mux2 and this is how to connect to it but we didn’t use it yet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28600" marR="0" lvl="0" indent="-38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38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324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VHDL LANGUAGE: MODEL IMPLEMENTATION</a:t>
            </a:r>
            <a:br>
              <a:rPr lang="en-US" sz="324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4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STRUCTURAL  (CONT)</a:t>
            </a:r>
            <a:endParaRPr sz="324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96" name="Google Shape;496;p38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229600" y="2336163"/>
            <a:ext cx="3489435" cy="3541712"/>
          </a:xfrm>
          <a:prstGeom prst="rect">
            <a:avLst/>
          </a:prstGeom>
          <a:noFill/>
          <a:ln>
            <a:noFill/>
          </a:ln>
        </p:spPr>
      </p:pic>
      <p:sp>
        <p:nvSpPr>
          <p:cNvPr id="497" name="Google Shape;497;p38"/>
          <p:cNvSpPr txBox="1">
            <a:spLocks noGrp="1"/>
          </p:cNvSpPr>
          <p:nvPr>
            <p:ph type="ftr" idx="11"/>
          </p:nvPr>
        </p:nvSpPr>
        <p:spPr>
          <a:xfrm>
            <a:off x="138069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FDCB7"/>
              </a:buClr>
              <a:buSzPts val="1400"/>
              <a:buFont typeface="Arial"/>
              <a:buNone/>
            </a:pPr>
            <a:r>
              <a:rPr lang="en-US" sz="1050" b="0" i="0" u="none" strike="noStrike" cap="none">
                <a:solidFill>
                  <a:srgbClr val="DFDCB7"/>
                </a:solidFill>
                <a:latin typeface="Arial"/>
                <a:ea typeface="Arial"/>
                <a:cs typeface="Arial"/>
                <a:sym typeface="Arial"/>
              </a:rPr>
              <a:t>INTRO TO VHDL</a:t>
            </a:r>
            <a:endParaRPr/>
          </a:p>
        </p:txBody>
      </p:sp>
      <p:sp>
        <p:nvSpPr>
          <p:cNvPr id="498" name="Google Shape;498;p38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</a:pPr>
            <a:fld id="{00000000-1234-1234-1234-123412341234}" type="slidenum">
              <a:rPr lang="en-US"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20</a:t>
            </a:fld>
            <a:endParaRPr sz="105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9" name="Google Shape;499;p38"/>
          <p:cNvSpPr txBox="1">
            <a:spLocks noGrp="1"/>
          </p:cNvSpPr>
          <p:nvPr>
            <p:ph type="body" idx="2"/>
          </p:nvPr>
        </p:nvSpPr>
        <p:spPr>
          <a:xfrm>
            <a:off x="1295400" y="2133600"/>
            <a:ext cx="6019800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24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BEGIN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2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u0: mux2 </a:t>
            </a:r>
            <a:r>
              <a:rPr lang="en-US" sz="24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 MAP</a:t>
            </a:r>
            <a:r>
              <a:rPr lang="en-US" sz="2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(in0,in1,s(0),x1);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2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u1: mux2 </a:t>
            </a:r>
            <a:r>
              <a:rPr lang="en-US" sz="24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 MAP</a:t>
            </a:r>
            <a:r>
              <a:rPr lang="en-US" sz="2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(in2,in3,s(0),x2);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2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u2: mux2 </a:t>
            </a:r>
            <a:r>
              <a:rPr lang="en-US" sz="24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 MAP</a:t>
            </a:r>
            <a:r>
              <a:rPr lang="en-US" sz="2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(x1,x2,s(1),out1);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24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 </a:t>
            </a:r>
            <a:r>
              <a:rPr lang="en-US" sz="2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struct;</a:t>
            </a:r>
            <a:endParaRPr/>
          </a:p>
        </p:txBody>
      </p:sp>
      <p:cxnSp>
        <p:nvCxnSpPr>
          <p:cNvPr id="500" name="Google Shape;500;p38"/>
          <p:cNvCxnSpPr/>
          <p:nvPr/>
        </p:nvCxnSpPr>
        <p:spPr>
          <a:xfrm rot="10800000" flipH="1">
            <a:off x="1418413" y="2950369"/>
            <a:ext cx="498474" cy="10795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stealth" w="med" len="med"/>
          </a:ln>
        </p:spPr>
      </p:cxnSp>
      <p:sp>
        <p:nvSpPr>
          <p:cNvPr id="501" name="Google Shape;501;p38"/>
          <p:cNvSpPr txBox="1"/>
          <p:nvPr/>
        </p:nvSpPr>
        <p:spPr>
          <a:xfrm>
            <a:off x="125452" y="3058319"/>
            <a:ext cx="1600199" cy="738187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2B20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2F2B20"/>
                </a:solidFill>
                <a:latin typeface="Calibri"/>
                <a:ea typeface="Calibri"/>
                <a:cs typeface="Calibri"/>
                <a:sym typeface="Calibri"/>
              </a:rPr>
              <a:t>Label to identify component with while tracing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2" name="Google Shape;502;p38"/>
          <p:cNvCxnSpPr/>
          <p:nvPr/>
        </p:nvCxnSpPr>
        <p:spPr>
          <a:xfrm rot="10800000">
            <a:off x="2672300" y="3973669"/>
            <a:ext cx="1" cy="1018188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stealth" w="med" len="med"/>
          </a:ln>
        </p:spPr>
      </p:cxnSp>
      <p:sp>
        <p:nvSpPr>
          <p:cNvPr id="503" name="Google Shape;503;p38"/>
          <p:cNvSpPr txBox="1"/>
          <p:nvPr/>
        </p:nvSpPr>
        <p:spPr>
          <a:xfrm>
            <a:off x="1872201" y="4991857"/>
            <a:ext cx="1600199" cy="30797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2B20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2F2B20"/>
                </a:solidFill>
                <a:latin typeface="Calibri"/>
                <a:ea typeface="Calibri"/>
                <a:cs typeface="Calibri"/>
                <a:sym typeface="Calibri"/>
              </a:rPr>
              <a:t>Component name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38"/>
          <p:cNvSpPr txBox="1"/>
          <p:nvPr/>
        </p:nvSpPr>
        <p:spPr>
          <a:xfrm>
            <a:off x="3068713" y="1920555"/>
            <a:ext cx="3505200" cy="52387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2B20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2F2B20"/>
                </a:solidFill>
                <a:latin typeface="Calibri"/>
                <a:ea typeface="Calibri"/>
                <a:cs typeface="Calibri"/>
                <a:sym typeface="Calibri"/>
              </a:rPr>
              <a:t>Keyword , whenever I port map a component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2B20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2F2B20"/>
                </a:solidFill>
                <a:latin typeface="Calibri"/>
                <a:ea typeface="Calibri"/>
                <a:cs typeface="Calibri"/>
                <a:sym typeface="Calibri"/>
              </a:rPr>
              <a:t>I put it in the circuit (as hardware IC)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5" name="Google Shape;505;p38"/>
          <p:cNvCxnSpPr/>
          <p:nvPr/>
        </p:nvCxnSpPr>
        <p:spPr>
          <a:xfrm rot="10800000">
            <a:off x="5144414" y="4240368"/>
            <a:ext cx="38776" cy="1255558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stealth" w="med" len="med"/>
          </a:ln>
        </p:spPr>
      </p:cxnSp>
      <p:sp>
        <p:nvSpPr>
          <p:cNvPr id="506" name="Google Shape;506;p38"/>
          <p:cNvSpPr txBox="1"/>
          <p:nvPr/>
        </p:nvSpPr>
        <p:spPr>
          <a:xfrm>
            <a:off x="3832302" y="5495926"/>
            <a:ext cx="3657600" cy="523874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2B20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2F2B20"/>
                </a:solidFill>
                <a:latin typeface="Calibri"/>
                <a:ea typeface="Calibri"/>
                <a:cs typeface="Calibri"/>
                <a:sym typeface="Calibri"/>
              </a:rPr>
              <a:t>Parameters sent to the component in the same order they are mentioned in the declaration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38"/>
          <p:cNvSpPr/>
          <p:nvPr/>
        </p:nvSpPr>
        <p:spPr>
          <a:xfrm rot="-5400000">
            <a:off x="5429250" y="3573619"/>
            <a:ext cx="266699" cy="1066799"/>
          </a:xfrm>
          <a:prstGeom prst="leftBrace">
            <a:avLst>
              <a:gd name="adj1" fmla="val 450"/>
              <a:gd name="adj2" fmla="val 10800"/>
            </a:avLst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8" name="Google Shape;508;p38"/>
          <p:cNvSpPr/>
          <p:nvPr/>
        </p:nvSpPr>
        <p:spPr>
          <a:xfrm rot="10800000">
            <a:off x="6590835" y="2903378"/>
            <a:ext cx="266699" cy="1066799"/>
          </a:xfrm>
          <a:prstGeom prst="leftBrace">
            <a:avLst>
              <a:gd name="adj1" fmla="val 450"/>
              <a:gd name="adj2" fmla="val 10800"/>
            </a:avLst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09" name="Google Shape;509;p38"/>
          <p:cNvSpPr txBox="1"/>
          <p:nvPr/>
        </p:nvSpPr>
        <p:spPr>
          <a:xfrm>
            <a:off x="6977429" y="3124201"/>
            <a:ext cx="1252172" cy="12954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accen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2B20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2F2B20"/>
                </a:solidFill>
                <a:latin typeface="Calibri"/>
                <a:ea typeface="Calibri"/>
                <a:cs typeface="Calibri"/>
                <a:sym typeface="Calibri"/>
              </a:rPr>
              <a:t>Concurrent statements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F2B20"/>
              </a:buClr>
              <a:buSzPts val="1400"/>
              <a:buFont typeface="Calibri"/>
              <a:buNone/>
            </a:pPr>
            <a:r>
              <a:rPr lang="en-US" sz="1400" b="0" i="1" u="none" strike="noStrike" cap="none">
                <a:solidFill>
                  <a:srgbClr val="2F2B20"/>
                </a:solidFill>
                <a:latin typeface="Calibri"/>
                <a:ea typeface="Calibri"/>
                <a:cs typeface="Calibri"/>
                <a:sym typeface="Calibri"/>
              </a:rPr>
              <a:t>All executes at the same time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0" name="Google Shape;510;p38"/>
          <p:cNvCxnSpPr>
            <a:stCxn id="504" idx="2"/>
          </p:cNvCxnSpPr>
          <p:nvPr/>
        </p:nvCxnSpPr>
        <p:spPr>
          <a:xfrm flipH="1">
            <a:off x="4172113" y="2444429"/>
            <a:ext cx="649200" cy="244200"/>
          </a:xfrm>
          <a:prstGeom prst="straightConnector1">
            <a:avLst/>
          </a:prstGeom>
          <a:noFill/>
          <a:ln w="12700" cap="flat" cmpd="sng">
            <a:solidFill>
              <a:schemeClr val="dk1"/>
            </a:solidFill>
            <a:prstDash val="solid"/>
            <a:miter lim="8000"/>
            <a:headEnd type="none" w="sm" len="sm"/>
            <a:tailEnd type="stealth" w="med" len="med"/>
          </a:ln>
        </p:spPr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9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324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VHDL LANGUAGE: MODEL IMPLEMENTATION</a:t>
            </a:r>
            <a:br>
              <a:rPr lang="en-US" sz="324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324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STRUCTURAL  (CONT)</a:t>
            </a:r>
            <a:endParaRPr sz="324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16" name="Google Shape;516;p39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229600" y="2336163"/>
            <a:ext cx="3489435" cy="3541712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39"/>
          <p:cNvSpPr txBox="1">
            <a:spLocks noGrp="1"/>
          </p:cNvSpPr>
          <p:nvPr>
            <p:ph type="ftr" idx="11"/>
          </p:nvPr>
        </p:nvSpPr>
        <p:spPr>
          <a:xfrm>
            <a:off x="138069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FDCB7"/>
              </a:buClr>
              <a:buSzPts val="1400"/>
              <a:buFont typeface="Arial"/>
              <a:buNone/>
            </a:pPr>
            <a:r>
              <a:rPr lang="en-US" sz="1050" b="0" i="0" u="none" strike="noStrike" cap="none">
                <a:solidFill>
                  <a:srgbClr val="DFDCB7"/>
                </a:solidFill>
                <a:latin typeface="Arial"/>
                <a:ea typeface="Arial"/>
                <a:cs typeface="Arial"/>
                <a:sym typeface="Arial"/>
              </a:rPr>
              <a:t>INTRO TO VHDL</a:t>
            </a:r>
            <a:endParaRPr/>
          </a:p>
        </p:txBody>
      </p:sp>
      <p:sp>
        <p:nvSpPr>
          <p:cNvPr id="518" name="Google Shape;518;p39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</a:pPr>
            <a:fld id="{00000000-1234-1234-1234-123412341234}" type="slidenum">
              <a:rPr lang="en-US"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21</a:t>
            </a:fld>
            <a:endParaRPr sz="105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39"/>
          <p:cNvSpPr txBox="1">
            <a:spLocks noGrp="1"/>
          </p:cNvSpPr>
          <p:nvPr>
            <p:ph type="body" idx="2"/>
          </p:nvPr>
        </p:nvSpPr>
        <p:spPr>
          <a:xfrm>
            <a:off x="1295400" y="2133600"/>
            <a:ext cx="6019800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24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BEGIN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2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u0: mux2 </a:t>
            </a:r>
            <a:r>
              <a:rPr lang="en-US" sz="24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 MAP</a:t>
            </a:r>
            <a:r>
              <a:rPr lang="en-US" sz="2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(in0,in1,s(0),x1);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2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u1: mux2 </a:t>
            </a:r>
            <a:r>
              <a:rPr lang="en-US" sz="24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 MAP</a:t>
            </a:r>
            <a:r>
              <a:rPr lang="en-US" sz="2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(in2,in3,s(0),x2);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2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u2: mux2 </a:t>
            </a:r>
            <a:r>
              <a:rPr lang="en-US" sz="24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 MAP</a:t>
            </a:r>
            <a:r>
              <a:rPr lang="en-US" sz="2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(x1,x2,s(1),out1);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lang="en-US" sz="2400" b="1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 </a:t>
            </a:r>
            <a:r>
              <a:rPr lang="en-US" sz="2400" b="0" i="1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struct;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40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TYPE (STD_LOGIC)</a:t>
            </a:r>
            <a:endParaRPr/>
          </a:p>
        </p:txBody>
      </p:sp>
      <p:sp>
        <p:nvSpPr>
          <p:cNvPr id="525" name="Google Shape;525;p40"/>
          <p:cNvSpPr txBox="1">
            <a:spLocks noGrp="1"/>
          </p:cNvSpPr>
          <p:nvPr>
            <p:ph type="body" idx="1"/>
          </p:nvPr>
        </p:nvSpPr>
        <p:spPr>
          <a:xfrm>
            <a:off x="1141412" y="1752600"/>
            <a:ext cx="9905999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Arial"/>
              <a:buChar char="•"/>
            </a:pPr>
            <a:r>
              <a:rPr lang="en-US" sz="204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Include</a:t>
            </a:r>
            <a:endParaRPr/>
          </a:p>
          <a:p>
            <a:pPr marL="685800" marR="0" lvl="1" indent="-228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25"/>
              <a:buFont typeface="Arial"/>
              <a:buChar char="•"/>
            </a:pPr>
            <a:r>
              <a:rPr lang="en-US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Library ieee;</a:t>
            </a:r>
            <a:endParaRPr/>
          </a:p>
          <a:p>
            <a:pPr marL="685800" marR="0" lvl="1" indent="-228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25"/>
              <a:buFont typeface="Arial"/>
              <a:buChar char="•"/>
            </a:pPr>
            <a:r>
              <a:rPr lang="en-US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Use ieee.std_logic_1164.all</a:t>
            </a:r>
            <a:endParaRPr/>
          </a:p>
          <a:p>
            <a:pPr marL="228600" marR="0" lvl="0" indent="-228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50"/>
              <a:buFont typeface="Arial"/>
              <a:buChar char="•"/>
            </a:pPr>
            <a:r>
              <a:rPr lang="en-US" sz="204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Std_logic  Possible values</a:t>
            </a:r>
            <a:endParaRPr/>
          </a:p>
          <a:p>
            <a:pPr marL="685800" marR="0" lvl="1" indent="-228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25"/>
              <a:buFont typeface="Arial"/>
              <a:buChar char="•"/>
            </a:pPr>
            <a:r>
              <a:rPr lang="en-US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 or 0  </a:t>
            </a:r>
            <a:endParaRPr/>
          </a:p>
          <a:p>
            <a:pPr marL="685800" marR="0" lvl="1" indent="-228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25"/>
              <a:buFont typeface="Arial"/>
              <a:buChar char="•"/>
            </a:pPr>
            <a:r>
              <a:rPr lang="en-US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 → for conflict </a:t>
            </a:r>
            <a:endParaRPr/>
          </a:p>
          <a:p>
            <a:pPr marL="685800" marR="0" lvl="1" indent="-228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25"/>
              <a:buFont typeface="Arial"/>
              <a:buChar char="•"/>
            </a:pPr>
            <a:r>
              <a:rPr lang="en-US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Z → high impedance  (remember tristate buffer?)</a:t>
            </a:r>
            <a:endParaRPr/>
          </a:p>
          <a:p>
            <a:pPr marL="685800" marR="0" lvl="1" indent="-228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25"/>
              <a:buFont typeface="Arial"/>
              <a:buChar char="•"/>
            </a:pPr>
            <a:r>
              <a:rPr lang="en-US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 → undefined </a:t>
            </a:r>
            <a:endParaRPr/>
          </a:p>
          <a:p>
            <a:pPr marL="685800" marR="0" lvl="1" indent="-228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25"/>
              <a:buFont typeface="Arial"/>
              <a:buChar char="•"/>
            </a:pPr>
            <a:r>
              <a:rPr lang="en-US" sz="17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others</a:t>
            </a:r>
            <a:endParaRPr/>
          </a:p>
          <a:p>
            <a:pPr marL="228600" marR="0" lvl="0" indent="-228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Arial"/>
              <a:buChar char="•"/>
            </a:pPr>
            <a:r>
              <a:rPr lang="en-US" sz="204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Think: What do you think possible values of Data Type (bit) ?</a:t>
            </a:r>
            <a:endParaRPr/>
          </a:p>
          <a:p>
            <a:pPr marL="228600" marR="0" lvl="0" indent="-228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2550"/>
              <a:buFont typeface="Arial"/>
              <a:buChar char="•"/>
            </a:pPr>
            <a:r>
              <a:rPr lang="en-US" sz="204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Which is better to use bit or std_logic?</a:t>
            </a:r>
            <a:endParaRPr/>
          </a:p>
        </p:txBody>
      </p:sp>
      <p:sp>
        <p:nvSpPr>
          <p:cNvPr id="526" name="Google Shape;526;p40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FDCB7"/>
              </a:buClr>
              <a:buSzPts val="1400"/>
              <a:buFont typeface="Arial"/>
              <a:buNone/>
            </a:pPr>
            <a:r>
              <a:rPr lang="en-US" sz="1050" b="0" i="0" u="none" strike="noStrike" cap="none">
                <a:solidFill>
                  <a:srgbClr val="DFDCB7"/>
                </a:solidFill>
                <a:latin typeface="Arial"/>
                <a:ea typeface="Arial"/>
                <a:cs typeface="Arial"/>
                <a:sym typeface="Arial"/>
              </a:rPr>
              <a:t>INTRO TO VHDL</a:t>
            </a:r>
            <a:endParaRPr/>
          </a:p>
        </p:txBody>
      </p:sp>
      <p:sp>
        <p:nvSpPr>
          <p:cNvPr id="527" name="Google Shape;527;p40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</a:pPr>
            <a:fld id="{00000000-1234-1234-1234-123412341234}" type="slidenum">
              <a:rPr lang="en-US"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05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1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TYPE (STD_LOGIC_VECTOR)</a:t>
            </a:r>
            <a:endParaRPr/>
          </a:p>
        </p:txBody>
      </p:sp>
      <p:sp>
        <p:nvSpPr>
          <p:cNvPr id="533" name="Google Shape;533;p41"/>
          <p:cNvSpPr txBox="1">
            <a:spLocks noGrp="1"/>
          </p:cNvSpPr>
          <p:nvPr>
            <p:ph type="body" idx="1"/>
          </p:nvPr>
        </p:nvSpPr>
        <p:spPr>
          <a:xfrm>
            <a:off x="1141412" y="1752600"/>
            <a:ext cx="9905999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Std_logic_vector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marR="0" lvl="1" indent="-228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lang="en-US" sz="20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a,b : in std_logic_vector(2 downto 0)</a:t>
            </a:r>
            <a:endParaRPr/>
          </a:p>
          <a:p>
            <a:pPr marL="685800" marR="0" lvl="1" indent="-228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Can be accessed like b(2) , b(1)</a:t>
            </a:r>
            <a:endParaRPr/>
          </a:p>
          <a:p>
            <a:pPr marL="228600" marR="0" lvl="0" indent="-228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access all vector</a:t>
            </a:r>
            <a:endParaRPr/>
          </a:p>
          <a:p>
            <a:pPr marL="685800" marR="0" lvl="1" indent="-228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&lt;= b;</a:t>
            </a:r>
            <a:endParaRPr/>
          </a:p>
          <a:p>
            <a:pPr marL="228600" marR="0" lvl="0" indent="-228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 access a range of the vector </a:t>
            </a:r>
            <a:endParaRPr/>
          </a:p>
          <a:p>
            <a:pPr marL="685800" marR="0" lvl="1" indent="-228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b(1 downto 0) &lt;= a(2 downto 1) </a:t>
            </a:r>
            <a:endParaRPr/>
          </a:p>
          <a:p>
            <a:pPr marL="228600" marR="0" lvl="0" indent="-2286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‘&amp;’ operator to concatenate two vectors or vector and single element </a:t>
            </a:r>
            <a:endParaRPr/>
          </a:p>
          <a:p>
            <a:pPr marL="685800" marR="0" lvl="1" indent="-22860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b(1 downto 0 ) &lt;= a(2) &amp; ‘0’</a:t>
            </a:r>
            <a:endParaRPr/>
          </a:p>
          <a:p>
            <a:pPr marL="228600" marR="0" lvl="0" indent="-381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marR="0" lvl="1" indent="-6985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endParaRPr sz="2000" b="1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685800" marR="0" lvl="1" indent="-69850" algn="l" rtl="0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4" name="Google Shape;534;p41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FDCB7"/>
              </a:buClr>
              <a:buSzPts val="1400"/>
              <a:buFont typeface="Arial"/>
              <a:buNone/>
            </a:pPr>
            <a:r>
              <a:rPr lang="en-US" sz="1050" b="0" i="0" u="none" strike="noStrike" cap="none">
                <a:solidFill>
                  <a:srgbClr val="DFDCB7"/>
                </a:solidFill>
                <a:latin typeface="Arial"/>
                <a:ea typeface="Arial"/>
                <a:cs typeface="Arial"/>
                <a:sym typeface="Arial"/>
              </a:rPr>
              <a:t>INTRO TO VHDL</a:t>
            </a:r>
            <a:endParaRPr/>
          </a:p>
        </p:txBody>
      </p:sp>
      <p:sp>
        <p:nvSpPr>
          <p:cNvPr id="535" name="Google Shape;535;p41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</a:pPr>
            <a:fld id="{00000000-1234-1234-1234-123412341234}" type="slidenum">
              <a:rPr lang="en-US"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05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42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r>
              <a:rPr lang="en-US"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Still confused !!</a:t>
            </a:r>
            <a:endParaRPr sz="3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1" name="Google Shape;541;p42"/>
          <p:cNvSpPr txBox="1">
            <a:spLocks noGrp="1"/>
          </p:cNvSpPr>
          <p:nvPr>
            <p:ph type="body" idx="1"/>
          </p:nvPr>
        </p:nvSpPr>
        <p:spPr>
          <a:xfrm>
            <a:off x="1141412" y="1752600"/>
            <a:ext cx="10745788" cy="45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Consider the module as a function or class 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entity declaration is like a header for the function (interface to our module)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architecture is the implementation of the function (how this module behaves inside)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Whenever I want to use function in another , I have to include that function header (that’s when I introduce the module between architecture and begin)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 actual usage of the function happens when we call it – function call- this is like port mapping a component But …</a:t>
            </a:r>
            <a:endParaRPr/>
          </a:p>
          <a:p>
            <a:pPr marL="228600" marR="0" lvl="0" indent="-101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2" name="Google Shape;542;p42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FDCB7"/>
              </a:buClr>
              <a:buSzPts val="1400"/>
              <a:buFont typeface="Arial"/>
              <a:buNone/>
            </a:pPr>
            <a:r>
              <a:rPr lang="en-US" sz="1050" b="0" i="0" u="none" strike="noStrike" cap="none">
                <a:solidFill>
                  <a:srgbClr val="DFDCB7"/>
                </a:solidFill>
                <a:latin typeface="Arial"/>
                <a:ea typeface="Arial"/>
                <a:cs typeface="Arial"/>
                <a:sym typeface="Arial"/>
              </a:rPr>
              <a:t>INTRO TO VHDL</a:t>
            </a:r>
            <a:endParaRPr/>
          </a:p>
        </p:txBody>
      </p:sp>
      <p:sp>
        <p:nvSpPr>
          <p:cNvPr id="543" name="Google Shape;543;p42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</a:pPr>
            <a:fld id="{00000000-1234-1234-1234-123412341234}" type="slidenum">
              <a:rPr lang="en-US"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05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3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Times New Roman"/>
              <a:buNone/>
            </a:pPr>
            <a:r>
              <a:rPr lang="en-US" sz="36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Important Consideration</a:t>
            </a:r>
            <a:endParaRPr sz="36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9" name="Google Shape;549;p43"/>
          <p:cNvSpPr txBox="1"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Whenever you use port map , </a:t>
            </a:r>
            <a:r>
              <a:rPr lang="en-US" sz="2400" b="1" i="0" u="sng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you add a component to the circuit </a:t>
            </a:r>
            <a:r>
              <a:rPr lang="en-US" sz="24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is not like a function that you can call it and re-call it. so in our previous example we had 3 mux2 components (i.e. 3 ICs on the breadboard).</a:t>
            </a:r>
            <a:b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Since port mapping is physical insertion of hardware </a:t>
            </a:r>
            <a:r>
              <a:rPr lang="en-US" sz="2400" b="1" i="0" u="sng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it can’t be made in a condition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(i.e. x&lt; = mux2 port map(…) when A=‘0’ ; is totally </a:t>
            </a:r>
            <a:r>
              <a:rPr lang="en-US" sz="2400" b="1" i="0" u="sng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incorrect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/>
          </a:p>
          <a:p>
            <a:pPr marL="342900" marR="0" lvl="0" indent="-762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2286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Unlike software , VHDL statement are </a:t>
            </a:r>
            <a:r>
              <a:rPr lang="en-US" sz="2400" b="1" i="0" u="sng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concurrent </a:t>
            </a: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they all execute in the same time not after each other 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(unless in certain cases to be mentioned later)</a:t>
            </a:r>
            <a:endParaRPr/>
          </a:p>
          <a:p>
            <a:pPr marL="228600" marR="0" lvl="0" indent="-38100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0" name="Google Shape;550;p43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FDCB7"/>
              </a:buClr>
              <a:buSzPts val="1400"/>
              <a:buFont typeface="Arial"/>
              <a:buNone/>
            </a:pPr>
            <a:r>
              <a:rPr lang="en-US" sz="1050" b="0" i="0" u="none" strike="noStrike" cap="none">
                <a:solidFill>
                  <a:srgbClr val="DFDCB7"/>
                </a:solidFill>
                <a:latin typeface="Arial"/>
                <a:ea typeface="Arial"/>
                <a:cs typeface="Arial"/>
                <a:sym typeface="Arial"/>
              </a:rPr>
              <a:t>INTRO TO VHDL</a:t>
            </a:r>
            <a:endParaRPr/>
          </a:p>
        </p:txBody>
      </p:sp>
      <p:sp>
        <p:nvSpPr>
          <p:cNvPr id="551" name="Google Shape;551;p43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</a:pPr>
            <a:fld id="{00000000-1234-1234-1234-123412341234}" type="slidenum">
              <a:rPr lang="en-US"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05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4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</a:t>
            </a:r>
            <a:endParaRPr/>
          </a:p>
        </p:txBody>
      </p:sp>
      <p:sp>
        <p:nvSpPr>
          <p:cNvPr id="557" name="Google Shape;557;p44"/>
          <p:cNvSpPr txBox="1">
            <a:spLocks noGrp="1"/>
          </p:cNvSpPr>
          <p:nvPr>
            <p:ph type="body" idx="1"/>
          </p:nvPr>
        </p:nvSpPr>
        <p:spPr>
          <a:xfrm>
            <a:off x="1219200" y="1905000"/>
            <a:ext cx="10210799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Define VHDL and its usage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 different modeling techniques in designing digital circuits  (Dataflow ,  structural)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 the Hardware created from the VHDL code 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Understand Concurrent statement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3000"/>
              <a:buFont typeface="Arial"/>
              <a:buChar char="•"/>
            </a:pPr>
            <a:r>
              <a:rPr lang="en-US" sz="2400" b="0" i="0" u="none" strike="noStrike" cap="none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Reuse previously created entity (component instantiation a.k.a port mapping)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Practice designing with VHDL</a:t>
            </a:r>
            <a:endParaRPr/>
          </a:p>
          <a:p>
            <a:pPr marL="228600" marR="0" lvl="0" indent="-381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8" name="Google Shape;558;p44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FDCB7"/>
              </a:buClr>
              <a:buSzPts val="1400"/>
              <a:buFont typeface="Arial"/>
              <a:buNone/>
            </a:pPr>
            <a:r>
              <a:rPr lang="en-US" sz="1050" b="0" i="0" u="none" strike="noStrike" cap="none">
                <a:solidFill>
                  <a:srgbClr val="DFDCB7"/>
                </a:solidFill>
                <a:latin typeface="Arial"/>
                <a:ea typeface="Arial"/>
                <a:cs typeface="Arial"/>
                <a:sym typeface="Arial"/>
              </a:rPr>
              <a:t>INTRO TO VHDL</a:t>
            </a:r>
            <a:endParaRPr/>
          </a:p>
        </p:txBody>
      </p:sp>
      <p:sp>
        <p:nvSpPr>
          <p:cNvPr id="559" name="Google Shape;559;p44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</a:pPr>
            <a:fld id="{00000000-1234-1234-1234-123412341234}" type="slidenum">
              <a:rPr lang="en-US"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26</a:t>
            </a:fld>
            <a:endParaRPr sz="105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45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Questrial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Questrial"/>
                <a:ea typeface="Questrial"/>
                <a:cs typeface="Questrial"/>
                <a:sym typeface="Questrial"/>
              </a:rPr>
              <a:t>TIPS</a:t>
            </a:r>
            <a:endParaRPr/>
          </a:p>
        </p:txBody>
      </p:sp>
      <p:sp>
        <p:nvSpPr>
          <p:cNvPr id="565" name="Google Shape;565;p45"/>
          <p:cNvSpPr txBox="1"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71500" marR="0" lvl="0" indent="-457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Questrial"/>
              <a:buAutoNum type="arabicPeriod"/>
            </a:pPr>
            <a:r>
              <a:rPr lang="en-US" sz="22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Always Save &amp; Compile before simulation.</a:t>
            </a:r>
            <a:endParaRPr/>
          </a:p>
          <a:p>
            <a:pPr marL="571500" marR="0" lvl="0" indent="-457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Questrial"/>
              <a:buAutoNum type="arabicPeriod"/>
            </a:pPr>
            <a:r>
              <a:rPr lang="en-US" sz="22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 the Error/Warning messages in “Transcript” tap.</a:t>
            </a:r>
            <a:endParaRPr/>
          </a:p>
          <a:p>
            <a:pPr marL="571500" marR="0" lvl="0" indent="-457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Questrial"/>
              <a:buAutoNum type="arabicPeriod"/>
            </a:pPr>
            <a:r>
              <a:rPr lang="en-US" sz="22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Change the “Radix” to make the simulation easier (right click on signal name in simulation).</a:t>
            </a:r>
            <a:endParaRPr/>
          </a:p>
          <a:p>
            <a:pPr marL="571500" marR="0" lvl="0" indent="-457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Questrial"/>
              <a:buAutoNum type="arabicPeriod"/>
            </a:pPr>
            <a:r>
              <a:rPr lang="en-US" sz="22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Re-writing your code all over again will </a:t>
            </a:r>
            <a:r>
              <a:rPr lang="en-US" sz="2220" b="1" i="0" u="sng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</a:t>
            </a:r>
            <a:r>
              <a:rPr lang="en-US" sz="22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solve your problems.</a:t>
            </a:r>
            <a:endParaRPr/>
          </a:p>
          <a:p>
            <a:pPr marL="571500" marR="0" lvl="0" indent="-457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Questrial"/>
              <a:buAutoNum type="arabicPeriod"/>
            </a:pPr>
            <a:r>
              <a:rPr lang="en-US" sz="22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any Error, check the few lines before the line with error message.</a:t>
            </a:r>
            <a:endParaRPr/>
          </a:p>
          <a:p>
            <a:pPr marL="571500" marR="0" lvl="0" indent="-4572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Questrial"/>
              <a:buAutoNum type="arabicPeriod"/>
            </a:pPr>
            <a:r>
              <a:rPr lang="en-US" sz="222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Always use Do files instead of Changing the inputs every time.</a:t>
            </a:r>
            <a:endParaRPr/>
          </a:p>
          <a:p>
            <a:pPr marL="571500" marR="0" lvl="0" indent="-31623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20"/>
              <a:buFont typeface="Questrial"/>
              <a:buNone/>
            </a:pPr>
            <a:endParaRPr sz="22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52387" algn="l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75"/>
              <a:buFont typeface="Arial"/>
              <a:buNone/>
            </a:pPr>
            <a:endParaRPr sz="2220" b="0" i="0" u="none" strike="noStrike" cap="none">
              <a:solidFill>
                <a:schemeClr val="dk1"/>
              </a:solidFill>
              <a:latin typeface="Questrial"/>
              <a:ea typeface="Questrial"/>
              <a:cs typeface="Questrial"/>
              <a:sym typeface="Questrial"/>
            </a:endParaRPr>
          </a:p>
        </p:txBody>
      </p:sp>
      <p:sp>
        <p:nvSpPr>
          <p:cNvPr id="566" name="Google Shape;566;p45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FDCB7"/>
              </a:buClr>
              <a:buSzPts val="1400"/>
              <a:buFont typeface="Arial"/>
              <a:buNone/>
            </a:pPr>
            <a:r>
              <a:rPr lang="en-US" sz="1050" b="0" i="0" u="none" strike="noStrike" cap="none">
                <a:solidFill>
                  <a:srgbClr val="DFDCB7"/>
                </a:solidFill>
                <a:latin typeface="Arial"/>
                <a:ea typeface="Arial"/>
                <a:cs typeface="Arial"/>
                <a:sym typeface="Arial"/>
              </a:rPr>
              <a:t>INTRO TO VHDL</a:t>
            </a:r>
            <a:endParaRPr/>
          </a:p>
        </p:txBody>
      </p:sp>
      <p:sp>
        <p:nvSpPr>
          <p:cNvPr id="567" name="Google Shape;567;p45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</a:pPr>
            <a:fld id="{00000000-1234-1234-1234-123412341234}" type="slidenum">
              <a:rPr lang="en-US"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27</a:t>
            </a:fld>
            <a:endParaRPr sz="105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6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DEMO#1 </a:t>
            </a:r>
            <a:endParaRPr/>
          </a:p>
        </p:txBody>
      </p:sp>
      <p:sp>
        <p:nvSpPr>
          <p:cNvPr id="573" name="Google Shape;573;p46"/>
          <p:cNvSpPr txBox="1"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Create Project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Add files to project (and.vhd)</a:t>
            </a: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Compile (Fix Errors)</a:t>
            </a:r>
            <a:endParaRPr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Char char="•"/>
            </a:pPr>
            <a:r>
              <a:rPr lang="en-US"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Simulate (force, clock, do)</a:t>
            </a:r>
            <a:endParaRPr/>
          </a:p>
        </p:txBody>
      </p:sp>
      <p:sp>
        <p:nvSpPr>
          <p:cNvPr id="574" name="Google Shape;574;p46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FDCB7"/>
              </a:buClr>
              <a:buSzPts val="1400"/>
              <a:buFont typeface="Arial"/>
              <a:buNone/>
            </a:pPr>
            <a:r>
              <a:rPr lang="en-US" sz="1050" b="0" i="0" u="none" strike="noStrike" cap="none">
                <a:solidFill>
                  <a:srgbClr val="DFDCB7"/>
                </a:solidFill>
                <a:latin typeface="Arial"/>
                <a:ea typeface="Arial"/>
                <a:cs typeface="Arial"/>
                <a:sym typeface="Arial"/>
              </a:rPr>
              <a:t>INTRO TO VHDL</a:t>
            </a:r>
            <a:endParaRPr/>
          </a:p>
        </p:txBody>
      </p:sp>
      <p:sp>
        <p:nvSpPr>
          <p:cNvPr id="575" name="Google Shape;575;p46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</a:pPr>
            <a:fld id="{00000000-1234-1234-1234-123412341234}" type="slidenum">
              <a:rPr lang="en-US"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28</a:t>
            </a:fld>
            <a:endParaRPr sz="105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48"/>
          <p:cNvSpPr txBox="1"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lang="en-US" sz="3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SUMMARY</a:t>
            </a:r>
            <a:endParaRPr/>
          </a:p>
        </p:txBody>
      </p:sp>
      <p:sp>
        <p:nvSpPr>
          <p:cNvPr id="590" name="Google Shape;590;p48"/>
          <p:cNvSpPr txBox="1">
            <a:spLocks noGrp="1"/>
          </p:cNvSpPr>
          <p:nvPr>
            <p:ph type="body" idx="1"/>
          </p:nvPr>
        </p:nvSpPr>
        <p:spPr>
          <a:xfrm>
            <a:off x="1141412" y="1905000"/>
            <a:ext cx="9905999" cy="3886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775"/>
              <a:buFont typeface="Arial"/>
              <a:buChar char="•"/>
            </a:pPr>
            <a:r>
              <a:rPr lang="en-US" sz="222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VHDL?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75"/>
              <a:buFont typeface="Arial"/>
              <a:buChar char="•"/>
            </a:pPr>
            <a:r>
              <a:rPr lang="en-US" sz="222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VHDL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75"/>
              <a:buFont typeface="Arial"/>
              <a:buChar char="•"/>
            </a:pPr>
            <a:r>
              <a:rPr lang="en-US" sz="222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Entity/Architecture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75"/>
              <a:buFont typeface="Arial"/>
              <a:buChar char="•"/>
            </a:pPr>
            <a:r>
              <a:rPr lang="en-US" sz="222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Modeling using (Dataflow , structural)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75"/>
              <a:buFont typeface="Arial"/>
              <a:buChar char="•"/>
            </a:pPr>
            <a:r>
              <a:rPr lang="en-US" sz="222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types in VHDL (std_logic / bit &amp; std_logic_vector / bit_vector)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75"/>
              <a:buFont typeface="Arial"/>
              <a:buChar char="•"/>
            </a:pPr>
            <a:r>
              <a:rPr lang="en-US" sz="222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Code is Concurrent not sequential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75"/>
              <a:buFont typeface="Arial"/>
              <a:buChar char="•"/>
            </a:pPr>
            <a:r>
              <a:rPr lang="en-US" sz="222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Signals are wires </a:t>
            </a:r>
            <a:endParaRPr/>
          </a:p>
          <a:p>
            <a:pPr marL="2286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75"/>
              <a:buFont typeface="Arial"/>
              <a:buChar char="•"/>
            </a:pPr>
            <a:r>
              <a:rPr lang="en-US" sz="222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Resuing previously created entity (component instantiation a.k.a port mapping)</a:t>
            </a:r>
            <a:endParaRPr/>
          </a:p>
          <a:p>
            <a:pPr marL="228600" marR="0" lvl="0" indent="-52387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775"/>
              <a:buFont typeface="Arial"/>
              <a:buNone/>
            </a:pPr>
            <a:endParaRPr sz="222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1" name="Google Shape;591;p48"/>
          <p:cNvSpPr txBox="1">
            <a:spLocks noGrp="1"/>
          </p:cNvSpPr>
          <p:nvPr>
            <p:ph type="ftr" idx="11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FDCB7"/>
              </a:buClr>
              <a:buSzPts val="1400"/>
              <a:buFont typeface="Arial"/>
              <a:buNone/>
            </a:pPr>
            <a:r>
              <a:rPr lang="en-US" sz="1050" b="0" i="0" u="none" strike="noStrike" cap="none">
                <a:solidFill>
                  <a:srgbClr val="DFDCB7"/>
                </a:solidFill>
                <a:latin typeface="Arial"/>
                <a:ea typeface="Arial"/>
                <a:cs typeface="Arial"/>
                <a:sym typeface="Arial"/>
              </a:rPr>
              <a:t>INTRO TO VHDL</a:t>
            </a:r>
            <a:endParaRPr/>
          </a:p>
        </p:txBody>
      </p:sp>
      <p:sp>
        <p:nvSpPr>
          <p:cNvPr id="592" name="Google Shape;592;p48"/>
          <p:cNvSpPr txBox="1">
            <a:spLocks noGrp="1"/>
          </p:cNvSpPr>
          <p:nvPr>
            <p:ph type="sldNum" idx="12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050"/>
              <a:buFont typeface="Arial"/>
              <a:buNone/>
            </a:pPr>
            <a:fld id="{00000000-1234-1234-1234-123412341234}" type="slidenum">
              <a:rPr lang="en-US" sz="105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rPr>
              <a:t>29</a:t>
            </a:fld>
            <a:endParaRPr sz="1050" b="0" i="0" u="none" strike="noStrike" cap="none">
              <a:solidFill>
                <a:srgbClr val="888888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Circuit">
  <a:themeElements>
    <a:clrScheme name="Circuit">
      <a:dk1>
        <a:srgbClr val="000000"/>
      </a:dk1>
      <a:lt1>
        <a:srgbClr val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1237</Words>
  <Application>Microsoft Office PowerPoint</Application>
  <PresentationFormat>Widescreen</PresentationFormat>
  <Paragraphs>291</Paragraphs>
  <Slides>29</Slides>
  <Notes>29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Calibri</vt:lpstr>
      <vt:lpstr>Helvetica Neue</vt:lpstr>
      <vt:lpstr>Times New Roman</vt:lpstr>
      <vt:lpstr>Arial</vt:lpstr>
      <vt:lpstr>Questrial</vt:lpstr>
      <vt:lpstr>Circuit</vt:lpstr>
      <vt:lpstr>LAB 1 INTRODUCTION TO VHDL</vt:lpstr>
      <vt:lpstr>DESIGN FLOW</vt:lpstr>
      <vt:lpstr>OBJECTIVES</vt:lpstr>
      <vt:lpstr>WHAT IS VHDL?</vt:lpstr>
      <vt:lpstr>WHY VHDL?</vt:lpstr>
      <vt:lpstr>HW DESIGNER GOAL</vt:lpstr>
      <vt:lpstr>VHDL is Describing Hardware so every line counts and cost a lot in real world   </vt:lpstr>
      <vt:lpstr>VHDL LANGUAGE: VARIABLES </vt:lpstr>
      <vt:lpstr>VHDL LANGUAGE: MODEL DEFINITION </vt:lpstr>
      <vt:lpstr>VHDL LANGUAGE: MODEL DEFINITION …(CONT)</vt:lpstr>
      <vt:lpstr>VHDL LANGUAGE: MODEL IMPLEMENTATION </vt:lpstr>
      <vt:lpstr> LET’S MAKE A MUX 4X1</vt:lpstr>
      <vt:lpstr>MUX 4X1</vt:lpstr>
      <vt:lpstr>VHDL LANGUAGE: MODEL IMPLEMENTATION</vt:lpstr>
      <vt:lpstr>VHDL LANGUAGE: MODEL IMPLEMENTATION DATA FLOW</vt:lpstr>
      <vt:lpstr>VHDL LANGUAGE: MODEL IMPLEMENTATION STRUCTURAL  </vt:lpstr>
      <vt:lpstr>VHDL LANGUAGE: MODEL IMPLEMENTATION STRUCTURAL </vt:lpstr>
      <vt:lpstr>VHDL LANGUAGE: MODEL IMPLEMENTATION STRUCTURAL </vt:lpstr>
      <vt:lpstr>VHDL LANGUAGE: MODEL IMPLEMENTATION STRUCTURAL </vt:lpstr>
      <vt:lpstr>VHDL LANGUAGE: MODEL IMPLEMENTATION STRUCTURAL  (CONT)</vt:lpstr>
      <vt:lpstr>VHDL LANGUAGE: MODEL IMPLEMENTATION STRUCTURAL  (CONT)</vt:lpstr>
      <vt:lpstr>DATA TYPE (STD_LOGIC)</vt:lpstr>
      <vt:lpstr>DATA TYPE (STD_LOGIC_VECTOR)</vt:lpstr>
      <vt:lpstr>Still confused !!</vt:lpstr>
      <vt:lpstr>Important Consideration</vt:lpstr>
      <vt:lpstr>OBJECTIVES</vt:lpstr>
      <vt:lpstr>TIPS</vt:lpstr>
      <vt:lpstr>DEMO#1 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1 INTRODUCTION TO VHDL</dc:title>
  <dc:creator>Maheed Hatem</dc:creator>
  <cp:lastModifiedBy>Maheed Hatem</cp:lastModifiedBy>
  <cp:revision>2</cp:revision>
  <dcterms:modified xsi:type="dcterms:W3CDTF">2021-04-01T17:23:42Z</dcterms:modified>
</cp:coreProperties>
</file>